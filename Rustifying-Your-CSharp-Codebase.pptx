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 id="289" r:id="rId34"/>
    <p:sldId id="290"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21"/>
    <p:restoredTop sz="94610"/>
  </p:normalViewPr>
  <p:slideViewPr>
    <p:cSldViewPr snapToGrid="0" snapToObjects="1">
      <p:cViewPr varScale="1">
        <p:scale>
          <a:sx n="209" d="100"/>
          <a:sy n="209" d="100"/>
        </p:scale>
        <p:origin x="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A3439"/>
                </a:solidFill>
                <a:latin typeface="Fira Sans"/>
              </a:defRPr>
            </a:pPr>
            <a:r>
              <a:rPr lang="en-US" sz="1300" b="0" i="0" u="none" strike="noStrike">
                <a:solidFill>
                  <a:srgbClr val="2A3439"/>
                </a:solidFill>
                <a:latin typeface="Fira Sans"/>
              </a:rPr>
              <a:t>Sum to 100M with runtime input (ms, lower is better)</a:t>
            </a:r>
          </a:p>
        </c:rich>
      </c:tx>
      <c:overlay val="0"/>
    </c:title>
    <c:autoTitleDeleted val="0"/>
    <c:plotArea>
      <c:layout/>
      <c:barChart>
        <c:barDir val="bar"/>
        <c:grouping val="clustered"/>
        <c:varyColors val="0"/>
        <c:ser>
          <c:idx val="0"/>
          <c:order val="0"/>
          <c:tx>
            <c:strRef>
              <c:f>Sheet1!$B$1</c:f>
              <c:strCache>
                <c:ptCount val="1"/>
                <c:pt idx="0">
                  <c:v>Sum to 100M, runtime input (ms, lower is better)</c:v>
                </c:pt>
              </c:strCache>
            </c:strRef>
          </c:tx>
          <c:spPr>
            <a:solidFill>
              <a:srgbClr val="FFC832"/>
            </a:solidFill>
            <a:effectLst/>
          </c:spPr>
          <c:invertIfNegative val="0"/>
          <c:dPt>
            <c:idx val="0"/>
            <c:invertIfNegative val="0"/>
            <c:bubble3D val="0"/>
            <c:extLst>
              <c:ext xmlns:c16="http://schemas.microsoft.com/office/drawing/2014/chart" uri="{C3380CC4-5D6E-409C-BE32-E72D297353CC}">
                <c16:uniqueId val="{00000001-9AB0-7544-BF55-1A3B6DAD0B5F}"/>
              </c:ext>
            </c:extLst>
          </c:dPt>
          <c:dPt>
            <c:idx val="1"/>
            <c:invertIfNegative val="0"/>
            <c:bubble3D val="0"/>
            <c:spPr>
              <a:solidFill>
                <a:srgbClr val="2E2459"/>
              </a:solidFill>
              <a:effectLst/>
            </c:spPr>
            <c:extLst>
              <c:ext xmlns:c16="http://schemas.microsoft.com/office/drawing/2014/chart" uri="{C3380CC4-5D6E-409C-BE32-E72D297353CC}">
                <c16:uniqueId val="{00000003-9AB0-7544-BF55-1A3B6DAD0B5F}"/>
              </c:ext>
            </c:extLst>
          </c:dPt>
          <c:dLbls>
            <c:numFmt formatCode="#,##0" sourceLinked="0"/>
            <c:spPr>
              <a:noFill/>
              <a:ln>
                <a:noFill/>
              </a:ln>
              <a:effectLst/>
            </c:spPr>
            <c:txPr>
              <a:bodyPr/>
              <a:lstStyle/>
              <a:p>
                <a:pPr>
                  <a:defRPr sz="1400" b="0" i="0" u="none" strike="noStrike">
                    <a:solidFill>
                      <a:srgbClr val="2A3439"/>
                    </a:solidFill>
                    <a:latin typeface="Fir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Rust</c:v>
                </c:pt>
                <c:pt idx="1">
                  <c:v>C#</c:v>
                </c:pt>
              </c:strCache>
            </c:strRef>
          </c:cat>
          <c:val>
            <c:numRef>
              <c:f>Sheet1!$B$2:$B$3</c:f>
              <c:numCache>
                <c:formatCode>General</c:formatCode>
                <c:ptCount val="2"/>
                <c:pt idx="0">
                  <c:v>14</c:v>
                </c:pt>
                <c:pt idx="1">
                  <c:v>36</c:v>
                </c:pt>
              </c:numCache>
            </c:numRef>
          </c:val>
          <c:extLst>
            <c:ext xmlns:c16="http://schemas.microsoft.com/office/drawing/2014/chart" uri="{C3380CC4-5D6E-409C-BE32-E72D297353CC}">
              <c16:uniqueId val="{00000004-9AB0-7544-BF55-1A3B6DAD0B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2A3439"/>
                </a:solidFill>
                <a:latin typeface="Fira Sans"/>
              </a:defRPr>
            </a:pPr>
            <a:endParaRPr lang="en-US"/>
          </a:p>
        </c:txPr>
        <c:crossAx val="2094734552"/>
        <c:crosses val="autoZero"/>
        <c:auto val="1"/>
        <c:lblAlgn val="ctr"/>
        <c:lblOffset val="100"/>
        <c:noMultiLvlLbl val="1"/>
      </c:catAx>
      <c:valAx>
        <c:axId val="2094734552"/>
        <c:scaling>
          <c:orientation val="minMax"/>
          <c:max val="40"/>
          <c:min val="0"/>
        </c:scaling>
        <c:delete val="0"/>
        <c:axPos val="b"/>
        <c:majorGridlines>
          <c:spPr>
            <a:ln w="6350" cap="flat">
              <a:solidFill>
                <a:srgbClr val="E1E1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5AB"/>
                </a:solidFill>
                <a:latin typeface="Fira San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517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not a switch-to-Rust talk. It is the story of six weeks I spent learning Rust as a career .NET developer, and what I brought back. Every code slide has C# on the left and Rust on the right. When they are close I will say so. When Rust does something C# cannot, the compiler error will be on the slide, because the error messages are the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framing from the series opener. I was not looking for a new job or a new stack. I wanted a language that forced different thinking, a modern systems language with safety and no C++ footguns. The car metaphor lands with this audience: C# does a lot for you, and that is a feature, but I wanted to see what I had stopped noticing.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old 'main uses' pair. The point is the middle column: there is a real overlap where a .NET shop could reasonably pick either, and a lot of what Rust teaches applies even when you stay in the left column. Microsoft is writing Rust in Windows and Azure. Mozilla built Servo with it. That is context, not a sales pitch.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structure and the promise. Six acts, one big idea each. The repeated closing beat, 'what this changed about my C#', is the spine of the talk. If people remember only those six beats, the talk worked.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was syntax, and most of it looked familiar. The surprise was how often Rust made me state intent that C# lets me leave implicit.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'Variables in Rust: Let Me Be Immutable'. The compiler forces the question 'does this actually change?' on every binding. After a week of it I started noticing how many of my C# locals never needed to change and how many fields could have been readonly. Also mention shadowing briefly: let x = x.trim(); is idiomatic Rust and a different habit from 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'Functions in Rust: Familiar Yet Different'. Parameter types are required, return type follows an arrow, and a trailing expression without a semicolon is the return value. Note the &amp;str parameter: a borrowed string slice, which is the first hint of the ownership story coming in week two.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Merges the old conditionals and loops slides. Spend under a minute here. The one thing to point at is the last line: if as an expression. Also loop with break value exists, but skip it for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'dotnet new, Meet cargo new' and 'NuGet, Meet Cargo'. The .NET CLI is good, and this audience knows it. What felt different was the cohesion: one tool, one manifest, a lock file by default, and a registry (crates.io) with the same publish flow. Also: cargo new gives you a git repo already initialized.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talk and gets the most time. Ownership is the thing that makes Rust Rust. Everything else, including fearless concurrency, falls out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'Memory Wars: Garbage Collection in C# vs Ownership in Rust'. Be fair to the GC here. It is one of the reasons C# is productive. But it hides three questions: who owns this, when does it die, and who else can mutate it. The alias example is the one that matters for what comes next: two references, one object, and nothing in the language tells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'Ownership in Rust: The Most C++-ish Thing I've Loved'. Three rules: each value has an owner, only one owner at a time, and the value is dropped when the owner goes out of scope. That is the entire memory model. RAII with a compiler that enforces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'Move Semantics in Rust: What Just Happened to My Variable?'. Show the actual compiler output. Point at the help line at the bottom. Integers, floats, bools are Copy and do not move; heap-owning types like String and Vec do. Clone is explicit because copying a heap value should look like a cost.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'Borrowing and References: Rust's Version of ref (But Nicer)'. C# devs know ref, in, and out, so this is not foreign. The difference is that borrowing is the default way to pass anything you want to keep, and the compiler tracks every borrow. Merges the old immutable and mutable borrowing slides.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Borrow Checker: Rust's Tough-Love Mentor'. The rule fits in one sentence, and it is the same rule that prevents data races across threads. The 'compiler that's not mad, just disappointed' line is from the post. The fix is usually scoping: end the read before the write. Modern Rust does this automatically when the reader is not used again (non-lexical lifetimes), so in practice you hit this less than the slide suggests.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'Slices and Strings with Rust: Goodbye C# StringBuilder?'. This is where new Rust developers get stuck, because 'why are there two string types' is really 'who owns this text'. Take &amp;str in function parameters and you accept both. Note Rust strings are UTF-8 and indexing by byte range can panic on a char boundary; mention it if asked.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'Threads, Tasks, and Ownership'. Folds the old eight-slide concurrency section into two. The C# side is fine when you remember the lock. The Rust side will not compile until you say how the value is shared: Arc for shared ownership across threads, Mutex for exclusive access. Send and Sync are marker traits the compiler uses to prove a type can cross or be shared between threads. Async/await exists in Rust too and looks familiar, but it needs a runtime like tokio; skip it for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from the original deck because it is the best concurrency example in it. mpsc is multi-producer, single-consumer. The move keyword moves tx into the thread closure, and send moves val into the channel. C# has Channel&lt;T&gt;, which is a great API, but nothing stops the producer from mutating the object after writing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'Week 2: Reflections on Ownership Week: My Brain Hurts (in a Good Way)'. The payoffs from the post: predictable and performant code, safety by default, concurrency confidence. The 'what changed' list is the beat that matters. Land it and move 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 original deck was missing, and the one that gives C# developers the most to take home. C# has been chasing these features since version 7: records, switch expressions, pattern matching, nullable reference types. Rust had them from day one and enforces them.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'Rust Structs vs C# Classes: Less is More'. Fixes the old slide 13, which claimed Rust structs have no methods. They do, via impl blocks; what they lack is inheritance. Structs are value-like by default, moved not shared, and cannot be null. Compare to C# records for the closest feel.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'Enums: Discriminated Unions Done Right'. C# 9 records plus a sealed abstract base get you close on the data side. What C# still lacks is the closed set: the compiler does not know all the subtypes, so switch cannot be exhaustive without a default arm. There is an active C# language proposal for union types; mention it if the audience asks.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'Match: Switch on Steroids'. Be fair: C# switch expressions are good and the syntax is nearly identical. The difference is exhaustiveness. C# warns when a switch expression is not exhaustive and throws SwitchExpressionException at runtime; Rust refuses to compile. Add a variant to the enum and every match in the codebase lights up. That is a refactoring superpower.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'Destructuring: Pattern Matching's Power Move'. C# deconstruction and property patterns are strong; show them honestly. The Rust win is that destructuring and the closed enum work together: no throw-in-the-default-arm ritual. Also mention 'if let' for the single-case check and 'let else' for early return.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'Option&lt;T&gt;: Where Null Is Not an Option'. Give C# credit: nullable reference types since C# 8, ?? and ?. read almost the same as unwrap_or and map. The difference is the compiler will not let you touch the inner value without handling None. A reader pointed out the ?? comparison in the comments; both languages converge here, Rust just does not have an opt-out.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'Week 3 Wrap-Up: Data Modeling That Fights Back' and the final reflections. This is the week with the most direct transfer back to C#, because C# already has most of the tooling. The habit is what changed.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four was errors, modules, and packages. The error handling story is the one that changed my C# the most after enums.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'Result&lt;T,E&gt;: A Better Way to Fail'. Result is an enum with two variants, Ok and Err, and the same match machinery from week three handles it. The C# signature hides that ReadAllText can throw six different exceptions; the Rust signature cannot hide anything. Rust warns on an unused Result, so ignoring an error is a visible act.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'Error Propagation with ?: So Simple, So Smart'. ? does the early return and calls From to convert the error type, which is why custom error enums fit so cleanly. It makes the happy path read straight down, with every failure point marked by a single visible character. The fax machine line is from the post.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'Panic! vs Exceptions: Stop the World or Handle It?'. The point is not that panics are bad; the point is that the language separates 'expected failure' from 'this cannot happen', and C# collapses them into one throw. In C# I now use exceptions for the second kind and return types for the first.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'Custom Errors: From Display to thiserror'. Without the crate you implement Display and std::error::Error by hand, which is fine but tedious. thiserror derives it. The #[from] attribute wires up the conversion that ? relies on. Mention anyhow for applications where you do not need a typed error, just context.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'Organizing Code: Rust Modules vs C# Namespaces' and 'Crates and Dependencies: NuGet, Meet Cargo'. Replaces the old ecosystem slides, which were a list of crate names. The two things to say out loud: everything is private until you write pub, and Cargo.lock is not optional. Also, cargo is one tool for build, test, bench, doc, and publish.</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five is where Rust's type system flexes. Traits are the good news. Lifetimes are the week everyone warns you about, and it is shorter than the warnings suggest.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'Traits in Rust: Interfaces That Do More' and 'Generics in Rust vs Generics in C#'. Default methods exist in both. The Rust extras: implementing a trait for a foreign type (like extension methods, but as a real interface implementation) and blanket implementations. Generics with trait bounds read like where T : IFoo, and Rust monomorphizes them, so there is no runtime cost.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'Rust Iterators and Functional Combinators' and 'Closures in Rust: Functional Vibes with a Twist'. This is the most comfortable slide in week five for a LINQ crowd. The twist is that closures obey ownership: they borrow by default, and move makes them take ownership, which matters when you hand a closure to a thread.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'Lifetimes: Surviving the First Encounter' and the Week 5 reflection. A lifetime is not a runtime thing; it is a name for how long a reference is valid, so the compiler can check it. Elision rules cover the common cases. The mental model that helped: the return value cannot outlive whatever it borrows from. Do not over-explain this on stage.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six was building. A real CLI with clap, files, tests, packaging, and a performance check that taught me more about compilers than about Rust.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'Building a CLI App in Rust: My First Project' and 'Parsing Arguments and Writing Logic'. This is the week six project from the series. clap 4 with the derive feature turns a struct into a full argument parser. The full project, with file handling from 'Working with Files and the Filesystem', is in the repo linked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'Writing Tests in Rust: Familiar and Fast' and 'Packaging and Releasing a Rust CLI Tool'. Unit tests go in a cfg(test) module in the same file; integration tests go in a tests/ folder. Doc tests run the examples in your comments. .NET single-file publish works well now too, but the binary carries the runtime. Size numbers are ballpark; say 'roughly' on stage.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'Performance Check: Does Rust Really Fly?' and its comments. Own the mistake on stage; it buys more credibility than any chart. The original Rust number was the compiler constant-folding the sum. With N supplied at runtime the gap was roughly 14 ms vs 36 ms across multiple runs, per a reader who reran it. The honest conclusion: Rust's advantage is predictability and no GC pauses, not a magic 1000x. Power consumption follows the same story; drop it unless you have measured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the six weeks to the capstone. The original is my aspnetcore-min-api-modular-monolithic repo: ASP.NET Core 10 Minimal API over the Chinook database, five modules, JWT auth, caching, FluentValidation, architecture tests. The port is rust-api-modular-monolithic. Same 47 routes, same status codes, same headers, same bodies. Both repos are linked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landed almost one to one, which surprised me. The difference is where the rule lives. In .NET a module can reference anything and a test catches it later. In Rust the Cargo.toml is the allow list; a module that does not declare shared-data-sqlite cannot name a single type from it. The architecture-tests crate still exists, reading the real graph out of cargo metadata, but it is a belt on top of suspenders.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what is the same first: a path, a typed id, a service call, 200 or 404. Then what is gone: IAlbumService comes from AppState instead of a DI container, and the route is a function pointer instead of a lambda registered by name. Then the honest part: the authorization check is a manual if at the top of every handler, 36 times across the port. That is C# thinking in Rust syntax. The Rust answer is an Authorized&lt;MusicRead&gt; extractor so the policy sits in the signature and a missing check is a compile error. That is the next commit.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from the repo README and a local run: cargo test reports 337 passing, the parity harness sweeps 98 cases against the running .NET service. Then be honest about the three places the port reads like C# in Rust syntax. This is the credibility slide: I learned Rust well enough to ship a parity-verified port, and well enough to see what I would do differently. Each card is a planned change, not a regret.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'Final Reflections: What Rust Taught Me as a C# Dev'. These are the six-week beats collapsed into five habits. Say each one in your own words and give one concrete example from your current codebase for at least two of them.</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thesis. Pause after it. This is where the six 'what this changed' beats pay off.</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merges the old three. Point at the repo: since there is no live demo, tell people the CLI and the benchmark harness are there to run. Then questions.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11091672" cy="1737360"/>
          </a:xfrm>
          <a:prstGeom prst="rect">
            <a:avLst/>
          </a:prstGeom>
          <a:noFill/>
          <a:ln/>
        </p:spPr>
        <p:txBody>
          <a:bodyPr wrap="square" lIns="0" tIns="0" rIns="0" bIns="0" rtlCol="0" anchor="b"/>
          <a:lstStyle/>
          <a:p>
            <a:pPr marL="0" indent="0">
              <a:buNone/>
            </a:pPr>
            <a:r>
              <a:rPr lang="en-US" sz="5400" dirty="0">
                <a:solidFill>
                  <a:srgbClr val="FFC832"/>
                </a:solidFill>
                <a:latin typeface="Alfa Slab One" pitchFamily="34" charset="0"/>
                <a:ea typeface="Alfa Slab One" pitchFamily="34" charset="-122"/>
                <a:cs typeface="Alfa Slab One" pitchFamily="34" charset="-120"/>
              </a:rPr>
              <a:t>Rust-ifying Your C# Codebase</a:t>
            </a:r>
            <a:endParaRPr lang="en-US" sz="5400" dirty="0"/>
          </a:p>
        </p:txBody>
      </p:sp>
      <p:sp>
        <p:nvSpPr>
          <p:cNvPr id="3" name="Text 1"/>
          <p:cNvSpPr txBox="1"/>
          <p:nvPr/>
        </p:nvSpPr>
        <p:spPr>
          <a:xfrm>
            <a:off x="548640" y="3291840"/>
            <a:ext cx="11091672" cy="731520"/>
          </a:xfrm>
          <a:prstGeom prst="rect">
            <a:avLst/>
          </a:prstGeom>
          <a:noFill/>
          <a:ln/>
        </p:spPr>
        <p:txBody>
          <a:bodyPr wrap="square" lIns="0" tIns="0" rIns="0" bIns="0" rtlCol="0" anchor="ctr"/>
          <a:lstStyle/>
          <a:p>
            <a:pPr marL="0" indent="0">
              <a:buNone/>
            </a:pPr>
            <a:r>
              <a:rPr lang="en-US" sz="2600" dirty="0">
                <a:solidFill>
                  <a:srgbClr val="FFFFFF"/>
                </a:solidFill>
                <a:latin typeface="Fira Sans" pitchFamily="34" charset="0"/>
                <a:ea typeface="Fira Sans" pitchFamily="34" charset="-122"/>
                <a:cs typeface="Fira Sans" pitchFamily="34" charset="-120"/>
              </a:rPr>
              <a:t>What 42 days of Rust taught a .NET developer</a:t>
            </a:r>
            <a:endParaRPr lang="en-US" sz="2600" dirty="0"/>
          </a:p>
        </p:txBody>
      </p:sp>
      <p:sp>
        <p:nvSpPr>
          <p:cNvPr id="4" name="Text 2"/>
          <p:cNvSpPr txBox="1"/>
          <p:nvPr/>
        </p:nvSpPr>
        <p:spPr>
          <a:xfrm>
            <a:off x="548640" y="5029200"/>
            <a:ext cx="5486400" cy="457200"/>
          </a:xfrm>
          <a:prstGeom prst="rect">
            <a:avLst/>
          </a:prstGeom>
          <a:noFill/>
          <a:ln/>
        </p:spPr>
        <p:txBody>
          <a:bodyPr wrap="square" lIns="0" tIns="0" rIns="0" bIns="0" rtlCol="0" anchor="ctr"/>
          <a:lstStyle/>
          <a:p>
            <a:pPr marL="0" indent="0">
              <a:buNone/>
            </a:pPr>
            <a:r>
              <a:rPr lang="en-US" sz="1800" b="1" dirty="0">
                <a:solidFill>
                  <a:srgbClr val="FFFFFF"/>
                </a:solidFill>
                <a:latin typeface="Fira Sans" pitchFamily="34" charset="0"/>
                <a:ea typeface="Fira Sans" pitchFamily="34" charset="-122"/>
                <a:cs typeface="Fira Sans" pitchFamily="34" charset="-120"/>
              </a:rPr>
              <a:t>Chris “Woody” Woodruff</a:t>
            </a:r>
            <a:endParaRPr lang="en-US" sz="1800" dirty="0"/>
          </a:p>
        </p:txBody>
      </p:sp>
      <p:sp>
        <p:nvSpPr>
          <p:cNvPr id="5" name="Text 3"/>
          <p:cNvSpPr txBox="1"/>
          <p:nvPr/>
        </p:nvSpPr>
        <p:spPr>
          <a:xfrm>
            <a:off x="548640" y="5440680"/>
            <a:ext cx="7315200" cy="365760"/>
          </a:xfrm>
          <a:prstGeom prst="rect">
            <a:avLst/>
          </a:prstGeom>
          <a:noFill/>
          <a:ln/>
        </p:spPr>
        <p:txBody>
          <a:bodyPr wrap="square" lIns="0" tIns="0" rIns="0" bIns="0" rtlCol="0" anchor="ctr"/>
          <a:lstStyle/>
          <a:p>
            <a:pPr marL="0" indent="0">
              <a:buNone/>
            </a:pPr>
            <a:r>
              <a:rPr lang="en-US" sz="1300" dirty="0">
                <a:solidFill>
                  <a:srgbClr val="E1E1E1"/>
                </a:solidFill>
                <a:latin typeface="Fira Sans" pitchFamily="34" charset="0"/>
                <a:ea typeface="Fira Sans" pitchFamily="34" charset="-122"/>
                <a:cs typeface="Fira Sans" pitchFamily="34" charset="-120"/>
              </a:rPr>
              <a:t>woodruff.dev   |   Microsoft MVP   |   .NET Foundation board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Rusty Itch</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COLD OPEN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a:t>
            </a:r>
            <a:endParaRPr lang="en-US" sz="900" dirty="0"/>
          </a:p>
        </p:txBody>
      </p:sp>
      <p:sp>
        <p:nvSpPr>
          <p:cNvPr id="5" name="Text 3"/>
          <p:cNvSpPr txBox="1"/>
          <p:nvPr/>
        </p:nvSpPr>
        <p:spPr>
          <a:xfrm>
            <a:off x="548640" y="1463040"/>
            <a:ext cx="5120640" cy="3108960"/>
          </a:xfrm>
          <a:prstGeom prst="rect">
            <a:avLst/>
          </a:prstGeom>
          <a:noFill/>
          <a:ln/>
        </p:spPr>
        <p:txBody>
          <a:bodyPr wrap="square" lIns="0" tIns="0" rIns="0" bIns="0" rtlCol="0" anchor="t"/>
          <a:lstStyle/>
          <a:p>
            <a:pPr marL="0" indent="0">
              <a:lnSpc>
                <a:spcPct val="115000"/>
              </a:lnSpc>
              <a:buNone/>
            </a:pPr>
            <a:r>
              <a:rPr lang="en-US" sz="3000" dirty="0">
                <a:solidFill>
                  <a:srgbClr val="2A3439"/>
                </a:solidFill>
                <a:latin typeface="Alfa Slab One" pitchFamily="34" charset="0"/>
                <a:ea typeface="Alfa Slab One" pitchFamily="34" charset="-122"/>
                <a:cs typeface="Alfa Slab One" pitchFamily="34" charset="-120"/>
              </a:rPr>
              <a:t>25 years of .NET.</a:t>
            </a:r>
            <a:endParaRPr lang="en-US" sz="3000" dirty="0"/>
          </a:p>
          <a:p>
            <a:pPr marL="0" indent="0">
              <a:lnSpc>
                <a:spcPct val="115000"/>
              </a:lnSpc>
              <a:buNone/>
            </a:pPr>
            <a:r>
              <a:rPr lang="en-US" sz="3000" dirty="0">
                <a:solidFill>
                  <a:srgbClr val="2A3439"/>
                </a:solidFill>
                <a:latin typeface="Alfa Slab One" pitchFamily="34" charset="0"/>
                <a:ea typeface="Alfa Slab One" pitchFamily="34" charset="-122"/>
                <a:cs typeface="Alfa Slab One" pitchFamily="34" charset="-120"/>
              </a:rPr>
              <a:t>Muscle memory made of LINQ comfortable.</a:t>
            </a:r>
            <a:endParaRPr lang="en-US" sz="3000" dirty="0"/>
          </a:p>
        </p:txBody>
      </p:sp>
      <p:sp>
        <p:nvSpPr>
          <p:cNvPr id="6" name="Text 4"/>
          <p:cNvSpPr txBox="1"/>
          <p:nvPr/>
        </p:nvSpPr>
        <p:spPr>
          <a:xfrm>
            <a:off x="548640" y="4480560"/>
            <a:ext cx="5120640" cy="1280160"/>
          </a:xfrm>
          <a:prstGeom prst="rect">
            <a:avLst/>
          </a:prstGeom>
          <a:noFill/>
          <a:ln/>
        </p:spPr>
        <p:txBody>
          <a:bodyPr wrap="square" lIns="0" tIns="0" rIns="0" bIns="0" rtlCol="0" anchor="ctr"/>
          <a:lstStyle/>
          <a:p>
            <a:pPr marL="0" indent="0">
              <a:buNone/>
            </a:pPr>
            <a:r>
              <a:rPr lang="en-US" sz="1600" dirty="0">
                <a:solidFill>
                  <a:srgbClr val="3C3C3C"/>
                </a:solidFill>
                <a:latin typeface="Fira Sans" pitchFamily="34" charset="0"/>
                <a:ea typeface="Fira Sans" pitchFamily="34" charset="-122"/>
                <a:cs typeface="Fira Sans" pitchFamily="34" charset="-120"/>
              </a:rPr>
              <a:t>So I gave myself 42 days. One topic a day. Everything written down, including the days the compiler won.</a:t>
            </a:r>
            <a:endParaRPr lang="en-US" sz="1600" dirty="0"/>
          </a:p>
        </p:txBody>
      </p:sp>
      <p:sp>
        <p:nvSpPr>
          <p:cNvPr id="7" name="Shape 5"/>
          <p:cNvSpPr/>
          <p:nvPr/>
        </p:nvSpPr>
        <p:spPr>
          <a:xfrm>
            <a:off x="6309360" y="141732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8" name="Shape 6"/>
          <p:cNvSpPr/>
          <p:nvPr/>
        </p:nvSpPr>
        <p:spPr>
          <a:xfrm>
            <a:off x="658368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9" name="Text 7"/>
          <p:cNvSpPr txBox="1"/>
          <p:nvPr/>
        </p:nvSpPr>
        <p:spPr>
          <a:xfrm>
            <a:off x="6949440" y="160020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C# is a luxury car</a:t>
            </a:r>
            <a:endParaRPr lang="en-US" sz="1600" dirty="0"/>
          </a:p>
        </p:txBody>
      </p:sp>
      <p:sp>
        <p:nvSpPr>
          <p:cNvPr id="10" name="Text 8"/>
          <p:cNvSpPr txBox="1"/>
          <p:nvPr/>
        </p:nvSpPr>
        <p:spPr>
          <a:xfrm>
            <a:off x="6583680" y="214884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Heated seats, lane assist, and a garbage collector that cleans up after you.</a:t>
            </a:r>
            <a:endParaRPr lang="en-US" sz="1400" dirty="0"/>
          </a:p>
        </p:txBody>
      </p:sp>
      <p:sp>
        <p:nvSpPr>
          <p:cNvPr id="11" name="Shape 9"/>
          <p:cNvSpPr/>
          <p:nvPr/>
        </p:nvSpPr>
        <p:spPr>
          <a:xfrm>
            <a:off x="6309360" y="288036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12" name="Shape 10"/>
          <p:cNvSpPr/>
          <p:nvPr/>
        </p:nvSpPr>
        <p:spPr>
          <a:xfrm>
            <a:off x="6583680" y="31729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3" name="Text 11"/>
          <p:cNvSpPr txBox="1"/>
          <p:nvPr/>
        </p:nvSpPr>
        <p:spPr>
          <a:xfrm>
            <a:off x="6949440" y="306324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Rust is a professor with a red pen</a:t>
            </a:r>
            <a:endParaRPr lang="en-US" sz="1600" dirty="0"/>
          </a:p>
        </p:txBody>
      </p:sp>
      <p:sp>
        <p:nvSpPr>
          <p:cNvPr id="14" name="Text 12"/>
          <p:cNvSpPr txBox="1"/>
          <p:nvPr/>
        </p:nvSpPr>
        <p:spPr>
          <a:xfrm>
            <a:off x="6583680" y="361188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It does not hold your hand. It also does not let you shoot yourself in the foot.</a:t>
            </a:r>
            <a:endParaRPr lang="en-US" sz="1400" dirty="0"/>
          </a:p>
        </p:txBody>
      </p:sp>
      <p:sp>
        <p:nvSpPr>
          <p:cNvPr id="15" name="Shape 13"/>
          <p:cNvSpPr/>
          <p:nvPr/>
        </p:nvSpPr>
        <p:spPr>
          <a:xfrm>
            <a:off x="6309360" y="4343400"/>
            <a:ext cx="5330952" cy="1325880"/>
          </a:xfrm>
          <a:prstGeom prst="roundRect">
            <a:avLst>
              <a:gd name="adj" fmla="val 8276"/>
            </a:avLst>
          </a:prstGeom>
          <a:solidFill>
            <a:srgbClr val="F4F5F6"/>
          </a:solidFill>
          <a:ln w="12700">
            <a:solidFill>
              <a:srgbClr val="F4F5F6"/>
            </a:solidFill>
            <a:prstDash val="solid"/>
          </a:ln>
        </p:spPr>
        <p:txBody>
          <a:bodyPr/>
          <a:lstStyle/>
          <a:p>
            <a:endParaRPr lang="en-US"/>
          </a:p>
        </p:txBody>
      </p:sp>
      <p:sp>
        <p:nvSpPr>
          <p:cNvPr id="16" name="Shape 14"/>
          <p:cNvSpPr/>
          <p:nvPr/>
        </p:nvSpPr>
        <p:spPr>
          <a:xfrm>
            <a:off x="6583680" y="4636008"/>
            <a:ext cx="237744" cy="237744"/>
          </a:xfrm>
          <a:prstGeom prst="ellipse">
            <a:avLst/>
          </a:prstGeom>
          <a:solidFill>
            <a:srgbClr val="0B7261"/>
          </a:solidFill>
          <a:ln w="12700">
            <a:solidFill>
              <a:srgbClr val="0B7261"/>
            </a:solidFill>
            <a:prstDash val="solid"/>
          </a:ln>
        </p:spPr>
        <p:txBody>
          <a:bodyPr/>
          <a:lstStyle/>
          <a:p>
            <a:endParaRPr lang="en-US"/>
          </a:p>
        </p:txBody>
      </p:sp>
      <p:sp>
        <p:nvSpPr>
          <p:cNvPr id="17" name="Text 15"/>
          <p:cNvSpPr txBox="1"/>
          <p:nvPr/>
        </p:nvSpPr>
        <p:spPr>
          <a:xfrm>
            <a:off x="6949440" y="4526280"/>
            <a:ext cx="450799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Day one status</a:t>
            </a:r>
            <a:endParaRPr lang="en-US" sz="1600" dirty="0"/>
          </a:p>
        </p:txBody>
      </p:sp>
      <p:sp>
        <p:nvSpPr>
          <p:cNvPr id="18" name="Text 16"/>
          <p:cNvSpPr txBox="1"/>
          <p:nvPr/>
        </p:nvSpPr>
        <p:spPr>
          <a:xfrm>
            <a:off x="6583680" y="5074920"/>
            <a:ext cx="4782312" cy="4114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My C# brain and the Rust compiler were not friends yet.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Two tools, one overlapping bench</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COLD OPEN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a:t>
            </a:r>
            <a:endParaRPr lang="en-US" sz="900" dirty="0"/>
          </a:p>
        </p:txBody>
      </p:sp>
      <p:sp>
        <p:nvSpPr>
          <p:cNvPr id="5" name="Shape 3"/>
          <p:cNvSpPr/>
          <p:nvPr/>
        </p:nvSpPr>
        <p:spPr>
          <a:xfrm>
            <a:off x="548640"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C# is at home</a:t>
            </a:r>
            <a:endParaRPr lang="en-US" sz="1600" dirty="0"/>
          </a:p>
        </p:txBody>
      </p:sp>
      <p:sp>
        <p:nvSpPr>
          <p:cNvPr id="8" name="Text 6"/>
          <p:cNvSpPr txBox="1"/>
          <p:nvPr/>
        </p:nvSpPr>
        <p:spPr>
          <a:xfrm>
            <a:off x="822960"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ASP.NET Core web apps and APIs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Azure and cloud services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Windows and cross-platform desktop</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Unity games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Line-of-business and enterprise systems</a:t>
            </a:r>
            <a:endParaRPr lang="en-US" sz="1400" dirty="0"/>
          </a:p>
        </p:txBody>
      </p:sp>
      <p:sp>
        <p:nvSpPr>
          <p:cNvPr id="9" name="Shape 7"/>
          <p:cNvSpPr/>
          <p:nvPr/>
        </p:nvSpPr>
        <p:spPr>
          <a:xfrm>
            <a:off x="4367784"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4642104" y="1709928"/>
            <a:ext cx="237744" cy="237744"/>
          </a:xfrm>
          <a:prstGeom prst="ellipse">
            <a:avLst/>
          </a:prstGeom>
          <a:solidFill>
            <a:srgbClr val="FFC832"/>
          </a:solidFill>
          <a:ln w="12700">
            <a:solidFill>
              <a:srgbClr val="FFC832"/>
            </a:solidFill>
            <a:prstDash val="solid"/>
          </a:ln>
        </p:spPr>
        <p:txBody>
          <a:bodyPr/>
          <a:lstStyle/>
          <a:p>
            <a:endParaRPr lang="en-US"/>
          </a:p>
        </p:txBody>
      </p:sp>
      <p:sp>
        <p:nvSpPr>
          <p:cNvPr id="11" name="Text 9"/>
          <p:cNvSpPr txBox="1"/>
          <p:nvPr/>
        </p:nvSpPr>
        <p:spPr>
          <a:xfrm>
            <a:off x="5007864"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they overlap</a:t>
            </a:r>
            <a:endParaRPr lang="en-US" sz="1600" dirty="0"/>
          </a:p>
        </p:txBody>
      </p:sp>
      <p:sp>
        <p:nvSpPr>
          <p:cNvPr id="12" name="Text 10"/>
          <p:cNvSpPr txBox="1"/>
          <p:nvPr/>
        </p:nvSpPr>
        <p:spPr>
          <a:xfrm>
            <a:off x="4642104"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Web APIs and services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Command-line tools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WebAssembly</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Cloud-native workloads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Anything you want fast and safe</a:t>
            </a:r>
            <a:endParaRPr lang="en-US" sz="1400" dirty="0"/>
          </a:p>
        </p:txBody>
      </p:sp>
      <p:sp>
        <p:nvSpPr>
          <p:cNvPr id="13" name="Shape 11"/>
          <p:cNvSpPr/>
          <p:nvPr/>
        </p:nvSpPr>
        <p:spPr>
          <a:xfrm>
            <a:off x="8186928" y="1417320"/>
            <a:ext cx="3453384" cy="4206240"/>
          </a:xfrm>
          <a:prstGeom prst="roundRect">
            <a:avLst>
              <a:gd name="adj" fmla="val 3177"/>
            </a:avLst>
          </a:prstGeom>
          <a:solidFill>
            <a:srgbClr val="F4F5F6"/>
          </a:solidFill>
          <a:ln w="12700">
            <a:solidFill>
              <a:srgbClr val="F4F5F6"/>
            </a:solidFill>
            <a:prstDash val="solid"/>
          </a:ln>
        </p:spPr>
        <p:txBody>
          <a:bodyPr/>
          <a:lstStyle/>
          <a:p>
            <a:endParaRPr lang="en-US"/>
          </a:p>
        </p:txBody>
      </p:sp>
      <p:sp>
        <p:nvSpPr>
          <p:cNvPr id="14" name="Shape 12"/>
          <p:cNvSpPr/>
          <p:nvPr/>
        </p:nvSpPr>
        <p:spPr>
          <a:xfrm>
            <a:off x="8461248" y="1709928"/>
            <a:ext cx="237744" cy="237744"/>
          </a:xfrm>
          <a:prstGeom prst="ellipse">
            <a:avLst/>
          </a:prstGeom>
          <a:solidFill>
            <a:srgbClr val="A72145"/>
          </a:solidFill>
          <a:ln w="12700">
            <a:solidFill>
              <a:srgbClr val="A72145"/>
            </a:solidFill>
            <a:prstDash val="solid"/>
          </a:ln>
        </p:spPr>
        <p:txBody>
          <a:bodyPr/>
          <a:lstStyle/>
          <a:p>
            <a:endParaRPr lang="en-US"/>
          </a:p>
        </p:txBody>
      </p:sp>
      <p:sp>
        <p:nvSpPr>
          <p:cNvPr id="15" name="Text 13"/>
          <p:cNvSpPr txBox="1"/>
          <p:nvPr/>
        </p:nvSpPr>
        <p:spPr>
          <a:xfrm>
            <a:off x="8827008" y="1600200"/>
            <a:ext cx="263042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Where Rust is at home</a:t>
            </a:r>
            <a:endParaRPr lang="en-US" sz="1600" dirty="0"/>
          </a:p>
        </p:txBody>
      </p:sp>
      <p:sp>
        <p:nvSpPr>
          <p:cNvPr id="16" name="Text 14"/>
          <p:cNvSpPr txBox="1"/>
          <p:nvPr/>
        </p:nvSpPr>
        <p:spPr>
          <a:xfrm>
            <a:off x="8461248" y="2148840"/>
            <a:ext cx="2904744" cy="32918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Operating systems and kernels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Embedded and firmware</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Networking and proxies</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Cryptography</a:t>
            </a:r>
            <a:endParaRPr lang="en-US" sz="1400" dirty="0"/>
          </a:p>
          <a:p>
            <a:pPr marL="0" indent="0">
              <a:buNone/>
            </a:pPr>
            <a:r>
              <a:rPr lang="en-US" sz="1400" dirty="0">
                <a:solidFill>
                  <a:srgbClr val="3C3C3C"/>
                </a:solidFill>
                <a:latin typeface="Fira Sans" pitchFamily="34" charset="0"/>
                <a:ea typeface="Fira Sans" pitchFamily="34" charset="-122"/>
                <a:cs typeface="Fira Sans" pitchFamily="34" charset="-120"/>
              </a:rPr>
              <a:t>Game engines and tooling</a:t>
            </a:r>
            <a:endParaRPr lang="en-US" sz="1400" dirty="0"/>
          </a:p>
        </p:txBody>
      </p:sp>
      <p:sp>
        <p:nvSpPr>
          <p:cNvPr id="17" name="Shape 15"/>
          <p:cNvSpPr/>
          <p:nvPr/>
        </p:nvSpPr>
        <p:spPr>
          <a:xfrm>
            <a:off x="548640" y="5925312"/>
            <a:ext cx="201168" cy="20116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914400" y="580644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This talk is about adding a tool to the bench, not replacing the one you already know.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42 days, six weeks, six ideas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MAP</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a:t>
            </a:r>
            <a:endParaRPr lang="en-US" sz="900" dirty="0"/>
          </a:p>
        </p:txBody>
      </p:sp>
      <p:sp>
        <p:nvSpPr>
          <p:cNvPr id="5" name="Shape 3"/>
          <p:cNvSpPr/>
          <p:nvPr/>
        </p:nvSpPr>
        <p:spPr>
          <a:xfrm>
            <a:off x="548640" y="1463040"/>
            <a:ext cx="1658112" cy="3108960"/>
          </a:xfrm>
          <a:prstGeom prst="roundRect">
            <a:avLst>
              <a:gd name="adj" fmla="val 6618"/>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731520"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1</a:t>
            </a:r>
            <a:endParaRPr lang="en-US" sz="6000" dirty="0"/>
          </a:p>
        </p:txBody>
      </p:sp>
      <p:sp>
        <p:nvSpPr>
          <p:cNvPr id="7" name="Text 5"/>
          <p:cNvSpPr txBox="1"/>
          <p:nvPr/>
        </p:nvSpPr>
        <p:spPr>
          <a:xfrm>
            <a:off x="731520"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Minimalism</a:t>
            </a:r>
            <a:endParaRPr lang="en-US" sz="1600" dirty="0"/>
          </a:p>
        </p:txBody>
      </p:sp>
      <p:sp>
        <p:nvSpPr>
          <p:cNvPr id="8" name="Text 6"/>
          <p:cNvSpPr txBox="1"/>
          <p:nvPr/>
        </p:nvSpPr>
        <p:spPr>
          <a:xfrm>
            <a:off x="731520"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Say what you mean</a:t>
            </a:r>
            <a:endParaRPr lang="en-US" sz="1300" dirty="0"/>
          </a:p>
        </p:txBody>
      </p:sp>
      <p:sp>
        <p:nvSpPr>
          <p:cNvPr id="9" name="Shape 7"/>
          <p:cNvSpPr/>
          <p:nvPr/>
        </p:nvSpPr>
        <p:spPr>
          <a:xfrm>
            <a:off x="2435352" y="1463040"/>
            <a:ext cx="1658112" cy="3108960"/>
          </a:xfrm>
          <a:prstGeom prst="roundRect">
            <a:avLst>
              <a:gd name="adj" fmla="val 6618"/>
            </a:avLst>
          </a:prstGeom>
          <a:solidFill>
            <a:srgbClr val="A72145"/>
          </a:solidFill>
          <a:ln w="12700">
            <a:solidFill>
              <a:srgbClr val="A72145"/>
            </a:solidFill>
            <a:prstDash val="solid"/>
          </a:ln>
        </p:spPr>
        <p:txBody>
          <a:bodyPr/>
          <a:lstStyle/>
          <a:p>
            <a:endParaRPr lang="en-US"/>
          </a:p>
        </p:txBody>
      </p:sp>
      <p:sp>
        <p:nvSpPr>
          <p:cNvPr id="10" name="Text 8"/>
          <p:cNvSpPr txBox="1"/>
          <p:nvPr/>
        </p:nvSpPr>
        <p:spPr>
          <a:xfrm>
            <a:off x="2618232"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2</a:t>
            </a:r>
            <a:endParaRPr lang="en-US" sz="6000" dirty="0"/>
          </a:p>
        </p:txBody>
      </p:sp>
      <p:sp>
        <p:nvSpPr>
          <p:cNvPr id="11" name="Text 9"/>
          <p:cNvSpPr txBox="1"/>
          <p:nvPr/>
        </p:nvSpPr>
        <p:spPr>
          <a:xfrm>
            <a:off x="2618232"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Ownership</a:t>
            </a:r>
            <a:endParaRPr lang="en-US" sz="1600" dirty="0"/>
          </a:p>
        </p:txBody>
      </p:sp>
      <p:sp>
        <p:nvSpPr>
          <p:cNvPr id="12" name="Text 10"/>
          <p:cNvSpPr txBox="1"/>
          <p:nvPr/>
        </p:nvSpPr>
        <p:spPr>
          <a:xfrm>
            <a:off x="2618232"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Who owns this?</a:t>
            </a:r>
            <a:endParaRPr lang="en-US" sz="1300" dirty="0"/>
          </a:p>
        </p:txBody>
      </p:sp>
      <p:sp>
        <p:nvSpPr>
          <p:cNvPr id="13" name="Shape 11"/>
          <p:cNvSpPr/>
          <p:nvPr/>
        </p:nvSpPr>
        <p:spPr>
          <a:xfrm>
            <a:off x="4322064" y="1463040"/>
            <a:ext cx="1658112" cy="3108960"/>
          </a:xfrm>
          <a:prstGeom prst="roundRect">
            <a:avLst>
              <a:gd name="adj" fmla="val 6618"/>
            </a:avLst>
          </a:prstGeom>
          <a:solidFill>
            <a:srgbClr val="0B7261"/>
          </a:solidFill>
          <a:ln w="12700">
            <a:solidFill>
              <a:srgbClr val="0B7261"/>
            </a:solidFill>
            <a:prstDash val="solid"/>
          </a:ln>
        </p:spPr>
        <p:txBody>
          <a:bodyPr/>
          <a:lstStyle/>
          <a:p>
            <a:endParaRPr lang="en-US"/>
          </a:p>
        </p:txBody>
      </p:sp>
      <p:sp>
        <p:nvSpPr>
          <p:cNvPr id="14" name="Text 12"/>
          <p:cNvSpPr txBox="1"/>
          <p:nvPr/>
        </p:nvSpPr>
        <p:spPr>
          <a:xfrm>
            <a:off x="4504944"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3</a:t>
            </a:r>
            <a:endParaRPr lang="en-US" sz="6000" dirty="0"/>
          </a:p>
        </p:txBody>
      </p:sp>
      <p:sp>
        <p:nvSpPr>
          <p:cNvPr id="15" name="Text 13"/>
          <p:cNvSpPr txBox="1"/>
          <p:nvPr/>
        </p:nvSpPr>
        <p:spPr>
          <a:xfrm>
            <a:off x="4504944"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Data modeling</a:t>
            </a:r>
            <a:endParaRPr lang="en-US" sz="1600" dirty="0"/>
          </a:p>
        </p:txBody>
      </p:sp>
      <p:sp>
        <p:nvSpPr>
          <p:cNvPr id="16" name="Text 14"/>
          <p:cNvSpPr txBox="1"/>
          <p:nvPr/>
        </p:nvSpPr>
        <p:spPr>
          <a:xfrm>
            <a:off x="4504944"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Make bad states impossible</a:t>
            </a:r>
            <a:endParaRPr lang="en-US" sz="1300" dirty="0"/>
          </a:p>
        </p:txBody>
      </p:sp>
      <p:sp>
        <p:nvSpPr>
          <p:cNvPr id="17" name="Shape 15"/>
          <p:cNvSpPr/>
          <p:nvPr/>
        </p:nvSpPr>
        <p:spPr>
          <a:xfrm>
            <a:off x="6208776" y="1463040"/>
            <a:ext cx="1658112" cy="3108960"/>
          </a:xfrm>
          <a:prstGeom prst="roundRect">
            <a:avLst>
              <a:gd name="adj" fmla="val 6618"/>
            </a:avLst>
          </a:prstGeom>
          <a:solidFill>
            <a:srgbClr val="2E2459"/>
          </a:solidFill>
          <a:ln w="12700">
            <a:solidFill>
              <a:srgbClr val="2E2459"/>
            </a:solidFill>
            <a:prstDash val="solid"/>
          </a:ln>
        </p:spPr>
        <p:txBody>
          <a:bodyPr/>
          <a:lstStyle/>
          <a:p>
            <a:endParaRPr lang="en-US"/>
          </a:p>
        </p:txBody>
      </p:sp>
      <p:sp>
        <p:nvSpPr>
          <p:cNvPr id="18" name="Text 16"/>
          <p:cNvSpPr txBox="1"/>
          <p:nvPr/>
        </p:nvSpPr>
        <p:spPr>
          <a:xfrm>
            <a:off x="6391656"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4</a:t>
            </a:r>
            <a:endParaRPr lang="en-US" sz="6000" dirty="0"/>
          </a:p>
        </p:txBody>
      </p:sp>
      <p:sp>
        <p:nvSpPr>
          <p:cNvPr id="19" name="Text 17"/>
          <p:cNvSpPr txBox="1"/>
          <p:nvPr/>
        </p:nvSpPr>
        <p:spPr>
          <a:xfrm>
            <a:off x="6391656"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Errors</a:t>
            </a:r>
            <a:endParaRPr lang="en-US" sz="1600" dirty="0"/>
          </a:p>
        </p:txBody>
      </p:sp>
      <p:sp>
        <p:nvSpPr>
          <p:cNvPr id="20" name="Text 18"/>
          <p:cNvSpPr txBox="1"/>
          <p:nvPr/>
        </p:nvSpPr>
        <p:spPr>
          <a:xfrm>
            <a:off x="6391656"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Failure in the signature</a:t>
            </a:r>
            <a:endParaRPr lang="en-US" sz="1300" dirty="0"/>
          </a:p>
        </p:txBody>
      </p:sp>
      <p:sp>
        <p:nvSpPr>
          <p:cNvPr id="21" name="Shape 19"/>
          <p:cNvSpPr/>
          <p:nvPr/>
        </p:nvSpPr>
        <p:spPr>
          <a:xfrm>
            <a:off x="8095488" y="1463040"/>
            <a:ext cx="1658112" cy="3108960"/>
          </a:xfrm>
          <a:prstGeom prst="roundRect">
            <a:avLst>
              <a:gd name="adj" fmla="val 6618"/>
            </a:avLst>
          </a:prstGeom>
          <a:solidFill>
            <a:srgbClr val="A72145"/>
          </a:solidFill>
          <a:ln w="12700">
            <a:solidFill>
              <a:srgbClr val="A72145"/>
            </a:solidFill>
            <a:prstDash val="solid"/>
          </a:ln>
        </p:spPr>
        <p:txBody>
          <a:bodyPr/>
          <a:lstStyle/>
          <a:p>
            <a:endParaRPr lang="en-US"/>
          </a:p>
        </p:txBody>
      </p:sp>
      <p:sp>
        <p:nvSpPr>
          <p:cNvPr id="22" name="Text 20"/>
          <p:cNvSpPr txBox="1"/>
          <p:nvPr/>
        </p:nvSpPr>
        <p:spPr>
          <a:xfrm>
            <a:off x="8278368"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5</a:t>
            </a:r>
            <a:endParaRPr lang="en-US" sz="6000" dirty="0"/>
          </a:p>
        </p:txBody>
      </p:sp>
      <p:sp>
        <p:nvSpPr>
          <p:cNvPr id="23" name="Text 21"/>
          <p:cNvSpPr txBox="1"/>
          <p:nvPr/>
        </p:nvSpPr>
        <p:spPr>
          <a:xfrm>
            <a:off x="8278368"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Traits &amp; lifetimes</a:t>
            </a:r>
            <a:endParaRPr lang="en-US" sz="1600" dirty="0"/>
          </a:p>
        </p:txBody>
      </p:sp>
      <p:sp>
        <p:nvSpPr>
          <p:cNvPr id="24" name="Text 22"/>
          <p:cNvSpPr txBox="1"/>
          <p:nvPr/>
        </p:nvSpPr>
        <p:spPr>
          <a:xfrm>
            <a:off x="8278368"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Power and pain</a:t>
            </a:r>
            <a:endParaRPr lang="en-US" sz="1300" dirty="0"/>
          </a:p>
        </p:txBody>
      </p:sp>
      <p:sp>
        <p:nvSpPr>
          <p:cNvPr id="25" name="Shape 23"/>
          <p:cNvSpPr/>
          <p:nvPr/>
        </p:nvSpPr>
        <p:spPr>
          <a:xfrm>
            <a:off x="9982200" y="1463040"/>
            <a:ext cx="1658112" cy="3108960"/>
          </a:xfrm>
          <a:prstGeom prst="roundRect">
            <a:avLst>
              <a:gd name="adj" fmla="val 6618"/>
            </a:avLst>
          </a:prstGeom>
          <a:solidFill>
            <a:srgbClr val="0B7261"/>
          </a:solidFill>
          <a:ln w="12700">
            <a:solidFill>
              <a:srgbClr val="0B7261"/>
            </a:solidFill>
            <a:prstDash val="solid"/>
          </a:ln>
        </p:spPr>
        <p:txBody>
          <a:bodyPr/>
          <a:lstStyle/>
          <a:p>
            <a:endParaRPr lang="en-US"/>
          </a:p>
        </p:txBody>
      </p:sp>
      <p:sp>
        <p:nvSpPr>
          <p:cNvPr id="26" name="Text 24"/>
          <p:cNvSpPr txBox="1"/>
          <p:nvPr/>
        </p:nvSpPr>
        <p:spPr>
          <a:xfrm>
            <a:off x="10165080" y="1554480"/>
            <a:ext cx="1292352" cy="1188720"/>
          </a:xfrm>
          <a:prstGeom prst="rect">
            <a:avLst/>
          </a:prstGeom>
          <a:noFill/>
          <a:ln/>
        </p:spPr>
        <p:txBody>
          <a:bodyPr wrap="square" lIns="0" tIns="0" rIns="0" bIns="0" rtlCol="0" anchor="ctr"/>
          <a:lstStyle/>
          <a:p>
            <a:pPr marL="0" indent="0">
              <a:buNone/>
            </a:pPr>
            <a:r>
              <a:rPr lang="en-US" sz="6000" dirty="0">
                <a:solidFill>
                  <a:srgbClr val="FFC832"/>
                </a:solidFill>
                <a:latin typeface="Alfa Slab One" pitchFamily="34" charset="0"/>
                <a:ea typeface="Alfa Slab One" pitchFamily="34" charset="-122"/>
                <a:cs typeface="Alfa Slab One" pitchFamily="34" charset="-120"/>
              </a:rPr>
              <a:t>6</a:t>
            </a:r>
            <a:endParaRPr lang="en-US" sz="6000" dirty="0"/>
          </a:p>
        </p:txBody>
      </p:sp>
      <p:sp>
        <p:nvSpPr>
          <p:cNvPr id="27" name="Text 25"/>
          <p:cNvSpPr txBox="1"/>
          <p:nvPr/>
        </p:nvSpPr>
        <p:spPr>
          <a:xfrm>
            <a:off x="10165080" y="2788920"/>
            <a:ext cx="1292352" cy="731520"/>
          </a:xfrm>
          <a:prstGeom prst="rect">
            <a:avLst/>
          </a:prstGeom>
          <a:noFill/>
          <a:ln/>
        </p:spPr>
        <p:txBody>
          <a:bodyPr wrap="square" lIns="0" tIns="0" rIns="0" bIns="0" rtlCol="0" anchor="t"/>
          <a:lstStyle/>
          <a:p>
            <a:pPr marL="0" indent="0">
              <a:buNone/>
            </a:pPr>
            <a:r>
              <a:rPr lang="en-US" sz="1600" b="1" dirty="0">
                <a:solidFill>
                  <a:srgbClr val="FFFFFF"/>
                </a:solidFill>
                <a:latin typeface="Fira Sans" pitchFamily="34" charset="0"/>
                <a:ea typeface="Fira Sans" pitchFamily="34" charset="-122"/>
                <a:cs typeface="Fira Sans" pitchFamily="34" charset="-120"/>
              </a:rPr>
              <a:t>Shipping</a:t>
            </a:r>
            <a:endParaRPr lang="en-US" sz="1600" dirty="0"/>
          </a:p>
        </p:txBody>
      </p:sp>
      <p:sp>
        <p:nvSpPr>
          <p:cNvPr id="28" name="Text 26"/>
          <p:cNvSpPr txBox="1"/>
          <p:nvPr/>
        </p:nvSpPr>
        <p:spPr>
          <a:xfrm>
            <a:off x="10165080" y="3520440"/>
            <a:ext cx="1292352" cy="914400"/>
          </a:xfrm>
          <a:prstGeom prst="rect">
            <a:avLst/>
          </a:prstGeom>
          <a:noFill/>
          <a:ln/>
        </p:spPr>
        <p:txBody>
          <a:bodyPr wrap="square" lIns="0" tIns="0" rIns="0" bIns="0" rtlCol="0" anchor="t"/>
          <a:lstStyle/>
          <a:p>
            <a:pPr marL="0" indent="0">
              <a:buNone/>
            </a:pPr>
            <a:r>
              <a:rPr lang="en-US" sz="1300" dirty="0">
                <a:solidFill>
                  <a:srgbClr val="E1E1E1"/>
                </a:solidFill>
                <a:latin typeface="Fira Sans" pitchFamily="34" charset="0"/>
                <a:ea typeface="Fira Sans" pitchFamily="34" charset="-122"/>
                <a:cs typeface="Fira Sans" pitchFamily="34" charset="-120"/>
              </a:rPr>
              <a:t>Build something real</a:t>
            </a:r>
            <a:endParaRPr lang="en-US" sz="1300" dirty="0"/>
          </a:p>
        </p:txBody>
      </p:sp>
      <p:sp>
        <p:nvSpPr>
          <p:cNvPr id="29" name="Text 27"/>
          <p:cNvSpPr txBox="1"/>
          <p:nvPr/>
        </p:nvSpPr>
        <p:spPr>
          <a:xfrm>
            <a:off x="548640" y="5532120"/>
            <a:ext cx="11091672" cy="457200"/>
          </a:xfrm>
          <a:prstGeom prst="rect">
            <a:avLst/>
          </a:prstGeom>
          <a:noFill/>
          <a:ln/>
        </p:spPr>
        <p:txBody>
          <a:bodyPr wrap="square" lIns="0" tIns="0" rIns="0" bIns="0" rtlCol="0" anchor="ctr"/>
          <a:lstStyle/>
          <a:p>
            <a:pPr marL="0" indent="0" algn="ctr">
              <a:buNone/>
            </a:pPr>
            <a:r>
              <a:rPr lang="en-US" sz="1600" dirty="0">
                <a:solidFill>
                  <a:srgbClr val="3C3C3C"/>
                </a:solidFill>
                <a:latin typeface="Fira Sans" pitchFamily="34" charset="0"/>
                <a:ea typeface="Fira Sans" pitchFamily="34" charset="-122"/>
                <a:cs typeface="Fira Sans" pitchFamily="34" charset="-120"/>
              </a:rPr>
              <a:t>Then, after the 42 days, a full port of a real API to prove it stuck.</a:t>
            </a:r>
            <a:endParaRPr lang="en-US" sz="1600" dirty="0"/>
          </a:p>
        </p:txBody>
      </p:sp>
      <p:sp>
        <p:nvSpPr>
          <p:cNvPr id="30" name="Text 28"/>
          <p:cNvSpPr txBox="1"/>
          <p:nvPr/>
        </p:nvSpPr>
        <p:spPr>
          <a:xfrm>
            <a:off x="548640" y="4937760"/>
            <a:ext cx="11091672" cy="548640"/>
          </a:xfrm>
          <a:prstGeom prst="rect">
            <a:avLst/>
          </a:prstGeom>
          <a:noFill/>
          <a:ln/>
        </p:spPr>
        <p:txBody>
          <a:bodyPr wrap="square" lIns="0" tIns="0" rIns="0" bIns="0" rtlCol="0" anchor="ctr"/>
          <a:lstStyle/>
          <a:p>
            <a:pPr marL="0" indent="0" algn="ctr">
              <a:buNone/>
            </a:pPr>
            <a:r>
              <a:rPr lang="en-US" sz="2000" b="1" dirty="0">
                <a:solidFill>
                  <a:srgbClr val="2A3439"/>
                </a:solidFill>
                <a:latin typeface="Fira Sans" pitchFamily="34" charset="0"/>
                <a:ea typeface="Fira Sans" pitchFamily="34" charset="-122"/>
                <a:cs typeface="Fira Sans" pitchFamily="34" charset="-120"/>
              </a:rPr>
              <a:t>Each week ends the same way: what this changed about my C#.</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E245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1</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Minimalism Hits Different</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Rust makes you say what you mean, starting with let.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Variables: let me be immutable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VARIABLES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6</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var number = 10;</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number = 20;              // fine</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readonly int Max = 5;     // immutability is opt-in</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mutable by default,</a:t>
            </a: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sprinkle readonly where you feel like it</a:t>
            </a:r>
            <a:endParaRPr lang="en-US" sz="12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number = 10;</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number = 20;   </a:t>
            </a:r>
            <a:r>
              <a:rPr lang="en-US" sz="1400" b="1" dirty="0">
                <a:solidFill>
                  <a:srgbClr val="FF0000"/>
                </a:solidFill>
                <a:latin typeface="Fira Mono" pitchFamily="34" charset="0"/>
                <a:ea typeface="Fira Mono" pitchFamily="34" charset="-122"/>
                <a:cs typeface="Fira Mono" pitchFamily="34" charset="-120"/>
              </a:rPr>
              <a:t>// error: cannot assign twice</a:t>
            </a:r>
            <a:endParaRPr lang="en-US" sz="1400" dirty="0">
              <a:solidFill>
                <a:srgbClr val="FF0000"/>
              </a:solidFill>
            </a:endParaRPr>
          </a:p>
          <a:p>
            <a:pPr marL="0" indent="0">
              <a:lnSpc>
                <a:spcPct val="105000"/>
              </a:lnSpc>
              <a:buNone/>
            </a:pPr>
            <a:r>
              <a:rPr lang="en-US" sz="1400" b="1" dirty="0">
                <a:solidFill>
                  <a:srgbClr val="FF0000"/>
                </a:solidFill>
                <a:latin typeface="Fira Mono" pitchFamily="34" charset="0"/>
                <a:ea typeface="Fira Mono" pitchFamily="34" charset="-122"/>
                <a:cs typeface="Fira Mono" pitchFamily="34" charset="-120"/>
              </a:rPr>
              <a:t>               // to immutable variable</a:t>
            </a:r>
            <a:endParaRPr lang="en-US" sz="1400" b="1" dirty="0">
              <a:solidFill>
                <a:srgbClr val="FF0000"/>
              </a:solidFill>
            </a:endParaRPr>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mut count = 10;</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count = 20;    // ok, because you said mut</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immutable by default, mut is a decision</a:t>
            </a:r>
            <a:endParaRPr lang="en-US" sz="14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 is mutable unless you say readonly. Rust is immutable unless you say mut. The default flips, and so does your habit.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Functions: familiar yet different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FUNCTIONS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Add(int a, int 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return a + 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Greet(string name)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$"Hello, {name}!";</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add(a: i32, b: i32) -&gt; i32 {</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a + b   // no semicolon: this is the value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greet(name: &amp;str) -&gt; String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format!("Hello, {name}!")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-&gt; for return type, snake_case everywhere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last expression in a block is its value. Once you trust that, half your return statements disappear.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Control flow: mostly what you expect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CONTROL FLOW</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8</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if (n &gt; 5) Console.WriteLine("big");</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else       Console.WriteLine("small");</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for (int i = 0; i &lt; 5; i++)</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Console.WriteLine($"Iteration {i}");</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while (count &lt; 5) { count++; }</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label = n &gt; 5 ? "big" : "small";</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if n &gt; 5 { println!("big");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else     { println!("small"); }</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for i in 0..5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println!("Iteration {i}");</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while count &lt; 5 { count += 1; }</a:t>
            </a:r>
            <a:endParaRPr lang="en-US" sz="1300" dirty="0"/>
          </a:p>
          <a:p>
            <a:pPr marL="0" indent="0">
              <a:lnSpc>
                <a:spcPct val="105000"/>
              </a:lnSpc>
              <a:buNone/>
            </a:pPr>
            <a:endParaRPr lang="en-US" sz="1300" dirty="0"/>
          </a:p>
          <a:p>
            <a:pPr marL="0" indent="0">
              <a:lnSpc>
                <a:spcPct val="105000"/>
              </a:lnSpc>
              <a:buNone/>
            </a:pPr>
            <a:r>
              <a:rPr lang="en-US" sz="1300" dirty="0">
                <a:solidFill>
                  <a:schemeClr val="bg1"/>
                </a:solidFill>
                <a:latin typeface="Fira Mono" pitchFamily="34" charset="0"/>
                <a:ea typeface="Fira Mono" pitchFamily="34" charset="-122"/>
                <a:cs typeface="Fira Mono" pitchFamily="34" charset="-120"/>
              </a:rPr>
              <a:t>let label = if n &gt; 5 { "big" } else { "small" };</a:t>
            </a:r>
            <a:endParaRPr lang="en-US" sz="1300" dirty="0">
              <a:solidFill>
                <a:schemeClr val="bg1"/>
              </a:solidFill>
            </a:endParaRPr>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No parentheses, braces required, and if is an expression, so there is no ternary because you do not need one.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dotnet new, meet cargo new</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1 · TOOLING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9</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new console -n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hello.csproj</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Program.cs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obj/</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&lt;Project Sdk="Microsoft.NET.Sdk"&gt;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&lt;PropertyGroup&gt;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&lt;OutputType&gt;Exe&lt;/OutputType&gt;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&lt;TargetFramework&gt;net9.0&lt;/TargetFramework&gt;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&lt;/PropertyGroup&gt;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&lt;ItemGroup&gt;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&lt;PackageReference Include="Serilog"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Version="4.2.0"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&lt;/ItemGroup&gt;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&lt;/Project&gt;</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new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Cargo.toml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src/main.rs</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[package]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name = "hello"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version = "0.1.0"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edition = "2024"</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[dependencies]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serde = "1"</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build, cargo run, cargo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add, cargo publish: one tool</a:t>
            </a:r>
            <a:endParaRPr lang="en-US" sz="11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Cargo is dotnet CLI plus NuGet plus the test runner in one place, and the config file is TOML instead of XML gymnastics.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72145"/>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2</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My Brain Hurts (In a Good Way)</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The GC hides one question: who owns this value? Rust makes you answer it out loud, at compile time.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the garbage collector does for you</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MEMORY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11</a:t>
            </a:r>
            <a:endParaRPr lang="en-US" sz="900" dirty="0"/>
          </a:p>
        </p:txBody>
      </p:sp>
      <p:sp>
        <p:nvSpPr>
          <p:cNvPr id="5" name="Shape 3"/>
          <p:cNvSpPr/>
          <p:nvPr/>
        </p:nvSpPr>
        <p:spPr>
          <a:xfrm>
            <a:off x="548640" y="1417320"/>
            <a:ext cx="5120640"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70992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600200"/>
            <a:ext cx="429768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What it hides</a:t>
            </a:r>
            <a:endParaRPr lang="en-US" sz="1600" dirty="0"/>
          </a:p>
        </p:txBody>
      </p:sp>
      <p:sp>
        <p:nvSpPr>
          <p:cNvPr id="8" name="Text 6"/>
          <p:cNvSpPr txBox="1"/>
          <p:nvPr/>
        </p:nvSpPr>
        <p:spPr>
          <a:xfrm>
            <a:off x="822960" y="2148840"/>
            <a:ext cx="4572000"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Who owns an object. When it dies. Whether two references point at the same thing and both mutate it.</a:t>
            </a:r>
            <a:endParaRPr lang="en-US" sz="1400" dirty="0"/>
          </a:p>
        </p:txBody>
      </p:sp>
      <p:sp>
        <p:nvSpPr>
          <p:cNvPr id="9" name="Shape 7"/>
          <p:cNvSpPr/>
          <p:nvPr/>
        </p:nvSpPr>
        <p:spPr>
          <a:xfrm>
            <a:off x="548640" y="3566160"/>
            <a:ext cx="5120640"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822960" y="38587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1" name="Text 9"/>
          <p:cNvSpPr txBox="1"/>
          <p:nvPr/>
        </p:nvSpPr>
        <p:spPr>
          <a:xfrm>
            <a:off x="1188720" y="3749040"/>
            <a:ext cx="429768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What it costs</a:t>
            </a:r>
            <a:endParaRPr lang="en-US" sz="1600" dirty="0"/>
          </a:p>
        </p:txBody>
      </p:sp>
      <p:sp>
        <p:nvSpPr>
          <p:cNvPr id="12" name="Text 10"/>
          <p:cNvSpPr txBox="1"/>
          <p:nvPr/>
        </p:nvSpPr>
        <p:spPr>
          <a:xfrm>
            <a:off x="822960" y="4297680"/>
            <a:ext cx="4572000"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 pause you did not schedule, allocations you did not think about, and bugs that only show up at runtime, under load, on a Friday.</a:t>
            </a:r>
            <a:endParaRPr lang="en-US" sz="1400" dirty="0"/>
          </a:p>
        </p:txBody>
      </p:sp>
      <p:sp>
        <p:nvSpPr>
          <p:cNvPr id="13" name="Shape 11"/>
          <p:cNvSpPr/>
          <p:nvPr/>
        </p:nvSpPr>
        <p:spPr>
          <a:xfrm>
            <a:off x="6035040" y="141732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14" name="Text 12"/>
          <p:cNvSpPr txBox="1"/>
          <p:nvPr/>
        </p:nvSpPr>
        <p:spPr>
          <a:xfrm>
            <a:off x="6035040" y="141732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15" name="Shape 13"/>
          <p:cNvSpPr/>
          <p:nvPr/>
        </p:nvSpPr>
        <p:spPr>
          <a:xfrm>
            <a:off x="6035040" y="1828800"/>
            <a:ext cx="5605272" cy="3703320"/>
          </a:xfrm>
          <a:prstGeom prst="roundRect">
            <a:avLst>
              <a:gd name="adj" fmla="val 2469"/>
            </a:avLst>
          </a:prstGeom>
          <a:solidFill>
            <a:srgbClr val="2B2B2B"/>
          </a:solidFill>
          <a:ln w="12700">
            <a:solidFill>
              <a:srgbClr val="2B2B2B"/>
            </a:solidFill>
            <a:prstDash val="solid"/>
          </a:ln>
        </p:spPr>
        <p:txBody>
          <a:bodyPr/>
          <a:lstStyle/>
          <a:p>
            <a:endParaRPr lang="en-US"/>
          </a:p>
        </p:txBody>
      </p:sp>
      <p:sp>
        <p:nvSpPr>
          <p:cNvPr id="16" name="Text 14"/>
          <p:cNvSpPr txBox="1"/>
          <p:nvPr/>
        </p:nvSpPr>
        <p:spPr>
          <a:xfrm>
            <a:off x="6217920" y="1965960"/>
            <a:ext cx="5239512" cy="342900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orders = new List&lt;Order&gt;();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for (var i = 0; i &lt; 1_000_000; i++)</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orders.Add(new Order());</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alias = orders;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alias.Clear();      // orders is empty too</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who frees this? not my problem.</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when? also not my problem.</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what does it cost? a pause, sometime.</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This is a feature. It is also a blind spot.</a:t>
            </a:r>
            <a:endParaRPr lang="en-US" sz="1300" dirty="0"/>
          </a:p>
        </p:txBody>
      </p:sp>
      <p:sp>
        <p:nvSpPr>
          <p:cNvPr id="17" name="Shape 15"/>
          <p:cNvSpPr/>
          <p:nvPr/>
        </p:nvSpPr>
        <p:spPr>
          <a:xfrm>
            <a:off x="548640" y="5925312"/>
            <a:ext cx="201168" cy="20116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914400" y="580644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None of this is wrong. It is just invisible, and Rust is about to make it visible.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Ownership: one value, one owner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OWNERSHIP</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s1 = "Hello";</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s2 = s1;</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Console.WriteLine(s1);   // fine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Console.WriteLine(s2);   // fine</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two references, one object,</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the runtime keeps count</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let s1 = String::from("Hello");</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let s2 = s1;   // ownership moves to s2</a:t>
            </a:r>
            <a:endParaRPr lang="en-US" sz="1400" dirty="0"/>
          </a:p>
          <a:p>
            <a:pPr marL="0" indent="0">
              <a:lnSpc>
                <a:spcPct val="105000"/>
              </a:lnSpc>
              <a:buNone/>
            </a:pPr>
            <a:endParaRPr lang="en-US" sz="1400" dirty="0"/>
          </a:p>
          <a:p>
            <a:pPr marL="0" indent="0">
              <a:lnSpc>
                <a:spcPct val="105000"/>
              </a:lnSpc>
              <a:buNone/>
            </a:pPr>
            <a:r>
              <a:rPr lang="en-US" sz="1400" dirty="0" err="1">
                <a:solidFill>
                  <a:schemeClr val="bg1"/>
                </a:solidFill>
                <a:latin typeface="Fira Mono" pitchFamily="34" charset="0"/>
                <a:ea typeface="Fira Mono" pitchFamily="34" charset="-122"/>
                <a:cs typeface="Fira Mono" pitchFamily="34" charset="-120"/>
              </a:rPr>
              <a:t>println</a:t>
            </a:r>
            <a:r>
              <a:rPr lang="en-US" sz="1400" dirty="0">
                <a:solidFill>
                  <a:schemeClr val="bg1"/>
                </a:solidFill>
                <a:latin typeface="Fira Mono" pitchFamily="34" charset="0"/>
                <a:ea typeface="Fira Mono" pitchFamily="34" charset="-122"/>
                <a:cs typeface="Fira Mono" pitchFamily="34" charset="-120"/>
              </a:rPr>
              <a:t>!("{s1}");  </a:t>
            </a:r>
            <a:r>
              <a:rPr lang="en-US" sz="1400" dirty="0">
                <a:solidFill>
                  <a:srgbClr val="FF0000"/>
                </a:solidFill>
                <a:latin typeface="Fira Mono" pitchFamily="34" charset="0"/>
                <a:ea typeface="Fira Mono" pitchFamily="34" charset="-122"/>
                <a:cs typeface="Fira Mono" pitchFamily="34" charset="-120"/>
              </a:rPr>
              <a:t>// compile error</a:t>
            </a:r>
            <a:endParaRPr lang="en-US" sz="1400" dirty="0">
              <a:solidFill>
                <a:srgbClr val="FF0000"/>
              </a:solidFill>
            </a:endParaRPr>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println!("{s2}");  // s2 owns it now</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one owner at a time,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dropped when the owner goes out of scope</a:t>
            </a:r>
            <a:endParaRPr lang="en-US" sz="14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Every value has exactly one owner. Assignment moves it. When the owner leaves scope, the value is freed. No GC, no ref counting, no guessing.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Move semantics: where did it go?</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MOVES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13</a:t>
            </a:r>
            <a:endParaRPr lang="en-US" sz="900" dirty="0"/>
          </a:p>
        </p:txBody>
      </p:sp>
      <p:sp>
        <p:nvSpPr>
          <p:cNvPr id="5" name="Shape 3"/>
          <p:cNvSpPr/>
          <p:nvPr/>
        </p:nvSpPr>
        <p:spPr>
          <a:xfrm>
            <a:off x="548640"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7" name="Shape 5"/>
          <p:cNvSpPr/>
          <p:nvPr/>
        </p:nvSpPr>
        <p:spPr>
          <a:xfrm>
            <a:off x="548640" y="1737360"/>
            <a:ext cx="5029200"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663440"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fn main() {</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let s1 = String::from("Hello");</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    let s2 = s1;</a:t>
            </a:r>
            <a:endParaRPr lang="en-US" sz="1400" dirty="0"/>
          </a:p>
          <a:p>
            <a:pPr marL="0" indent="0">
              <a:lnSpc>
                <a:spcPct val="105000"/>
              </a:lnSpc>
              <a:buNone/>
            </a:pPr>
            <a:r>
              <a:rPr lang="en-US" sz="1400" b="1" dirty="0">
                <a:solidFill>
                  <a:srgbClr val="FFC832"/>
                </a:solidFill>
                <a:latin typeface="Fira Mono" pitchFamily="34" charset="0"/>
                <a:ea typeface="Fira Mono" pitchFamily="34" charset="-122"/>
                <a:cs typeface="Fira Mono" pitchFamily="34" charset="-120"/>
              </a:rPr>
              <a:t>    println!("{}", s1);</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s1 was moved. It is gone.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Not null. Not empty. Gone,</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and the compiler will not let you</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pretend otherwise.</a:t>
            </a:r>
            <a:endParaRPr lang="en-US" sz="1400" dirty="0"/>
          </a:p>
        </p:txBody>
      </p:sp>
      <p:sp>
        <p:nvSpPr>
          <p:cNvPr id="9" name="Shape 7"/>
          <p:cNvSpPr/>
          <p:nvPr/>
        </p:nvSpPr>
        <p:spPr>
          <a:xfrm>
            <a:off x="5943600" y="1737360"/>
            <a:ext cx="5696712"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0" name="Text 8"/>
          <p:cNvSpPr txBox="1"/>
          <p:nvPr/>
        </p:nvSpPr>
        <p:spPr>
          <a:xfrm>
            <a:off x="6126480" y="1874520"/>
            <a:ext cx="5330952" cy="3291840"/>
          </a:xfrm>
          <a:prstGeom prst="rect">
            <a:avLst/>
          </a:prstGeom>
          <a:noFill/>
          <a:ln/>
        </p:spPr>
        <p:txBody>
          <a:bodyPr wrap="square" lIns="0" tIns="0" rIns="0" bIns="0" rtlCol="0" anchor="t"/>
          <a:lstStyle/>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error[E0382]: borrow of moved value: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src/main.rs:4:20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2 |   let s1 = String::from("Hello");</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move occurs because `s1` has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type `String`, which does not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implement the `Copy` trait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3 |   let s2 =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value moved here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4 |   println!("{}", s1);</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 value borrowed here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after move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help: consider cloning the value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let s2 = s1.clone();</a:t>
            </a:r>
            <a:endParaRPr lang="en-US" sz="1100" dirty="0"/>
          </a:p>
        </p:txBody>
      </p:sp>
      <p:sp>
        <p:nvSpPr>
          <p:cNvPr id="11" name="Text 9"/>
          <p:cNvSpPr txBox="1"/>
          <p:nvPr/>
        </p:nvSpPr>
        <p:spPr>
          <a:xfrm>
            <a:off x="5943600" y="1325880"/>
            <a:ext cx="3657600"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The error is the lesson</a:t>
            </a:r>
            <a:endParaRPr lang="en-US" sz="1200" dirty="0"/>
          </a:p>
        </p:txBody>
      </p:sp>
      <p:sp>
        <p:nvSpPr>
          <p:cNvPr id="12" name="Shape 10"/>
          <p:cNvSpPr/>
          <p:nvPr/>
        </p:nvSpPr>
        <p:spPr>
          <a:xfrm>
            <a:off x="548640" y="5788152"/>
            <a:ext cx="201168" cy="201168"/>
          </a:xfrm>
          <a:prstGeom prst="ellipse">
            <a:avLst/>
          </a:prstGeom>
          <a:solidFill>
            <a:srgbClr val="FFC832"/>
          </a:solidFill>
          <a:ln w="12700">
            <a:solidFill>
              <a:srgbClr val="FFC832"/>
            </a:solidFill>
            <a:prstDash val="solid"/>
          </a:ln>
        </p:spPr>
        <p:txBody>
          <a:bodyPr/>
          <a:lstStyle/>
          <a:p>
            <a:endParaRPr lang="en-US"/>
          </a:p>
        </p:txBody>
      </p:sp>
      <p:sp>
        <p:nvSpPr>
          <p:cNvPr id="13" name="Text 11"/>
          <p:cNvSpPr txBox="1"/>
          <p:nvPr/>
        </p:nvSpPr>
        <p:spPr>
          <a:xfrm>
            <a:off x="914400" y="566928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Read the whole message. It tells you what moved, where, why, and how to fix it. Rust's compiler errors are the best documentation in the language.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Borrowing: ref and in, but nicer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BORROWING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Length(in string s)      // read only</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s.Length;</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void Grow(ref StringBuilder sb)</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    =&gt; sb.Append(", world!");</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ref and in are opt-in hints.</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Nothing stops a second writer.</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length(s: &amp;String) -&gt; usize {  // borrow</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s.len()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grow(s: &amp;mut String) {  // mutable borrow</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s.push_str(", world!");</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mut greeting = String::from("Hello");</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let n = length(&amp;greeting);   // lend it</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grow(&amp;mut greeting);         // lend it, mutably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println!("{greeting} {n}");  // still mine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borrow lets a function use a value without taking it. The caller writes &amp; or &amp;mut at the call site, so intent is visible on both ends.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borrow checker: tough-love mentor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BORROW CHECKER</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15</a:t>
            </a:r>
            <a:endParaRPr lang="en-US" sz="900" dirty="0"/>
          </a:p>
        </p:txBody>
      </p:sp>
      <p:sp>
        <p:nvSpPr>
          <p:cNvPr id="5" name="Text 3"/>
          <p:cNvSpPr txBox="1"/>
          <p:nvPr/>
        </p:nvSpPr>
        <p:spPr>
          <a:xfrm>
            <a:off x="548640" y="1325880"/>
            <a:ext cx="3657600"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One rule</a:t>
            </a:r>
            <a:endParaRPr lang="en-US" sz="1200" dirty="0"/>
          </a:p>
        </p:txBody>
      </p:sp>
      <p:sp>
        <p:nvSpPr>
          <p:cNvPr id="6" name="Text 4"/>
          <p:cNvSpPr txBox="1"/>
          <p:nvPr/>
        </p:nvSpPr>
        <p:spPr>
          <a:xfrm>
            <a:off x="548640" y="1691640"/>
            <a:ext cx="11091672" cy="822960"/>
          </a:xfrm>
          <a:prstGeom prst="rect">
            <a:avLst/>
          </a:prstGeom>
          <a:noFill/>
          <a:ln/>
        </p:spPr>
        <p:txBody>
          <a:bodyPr wrap="square" lIns="0" tIns="0" rIns="0" bIns="0" rtlCol="0" anchor="t"/>
          <a:lstStyle/>
          <a:p>
            <a:pPr marL="0" indent="0">
              <a:buNone/>
            </a:pPr>
            <a:r>
              <a:rPr lang="en-US" sz="2600" dirty="0">
                <a:solidFill>
                  <a:srgbClr val="2A3439"/>
                </a:solidFill>
                <a:latin typeface="Alfa Slab One" pitchFamily="34" charset="0"/>
                <a:ea typeface="Alfa Slab One" pitchFamily="34" charset="-122"/>
                <a:cs typeface="Alfa Slab One" pitchFamily="34" charset="-120"/>
              </a:rPr>
              <a:t>Any number of readers, or exactly one writer. Never both at once.</a:t>
            </a:r>
            <a:endParaRPr lang="en-US" sz="2600" dirty="0"/>
          </a:p>
        </p:txBody>
      </p:sp>
      <p:sp>
        <p:nvSpPr>
          <p:cNvPr id="7" name="Shape 5"/>
          <p:cNvSpPr/>
          <p:nvPr/>
        </p:nvSpPr>
        <p:spPr>
          <a:xfrm>
            <a:off x="548640" y="2697480"/>
            <a:ext cx="5362956" cy="2834640"/>
          </a:xfrm>
          <a:prstGeom prst="roundRect">
            <a:avLst>
              <a:gd name="adj" fmla="val 3226"/>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2834640"/>
            <a:ext cx="4997196" cy="256032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mut name = String::from("John");</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r1 = &amp;name;        // reader</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r2 = &amp;mut name;    // writer, while r1 lives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println!("{r1}");</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error[E0502]: cannot borrow `name` as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mutable because it is also borrowed</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as immutable</a:t>
            </a:r>
            <a:endParaRPr lang="en-US" sz="1200" dirty="0"/>
          </a:p>
        </p:txBody>
      </p:sp>
      <p:sp>
        <p:nvSpPr>
          <p:cNvPr id="9" name="Shape 7"/>
          <p:cNvSpPr/>
          <p:nvPr/>
        </p:nvSpPr>
        <p:spPr>
          <a:xfrm>
            <a:off x="6277356" y="2697480"/>
            <a:ext cx="5362956" cy="2834640"/>
          </a:xfrm>
          <a:prstGeom prst="roundRect">
            <a:avLst>
              <a:gd name="adj" fmla="val 3226"/>
            </a:avLst>
          </a:prstGeom>
          <a:solidFill>
            <a:srgbClr val="2B2B2B"/>
          </a:solidFill>
          <a:ln w="12700">
            <a:solidFill>
              <a:srgbClr val="2B2B2B"/>
            </a:solidFill>
            <a:prstDash val="solid"/>
          </a:ln>
        </p:spPr>
        <p:txBody>
          <a:bodyPr/>
          <a:lstStyle/>
          <a:p>
            <a:endParaRPr lang="en-US"/>
          </a:p>
        </p:txBody>
      </p:sp>
      <p:sp>
        <p:nvSpPr>
          <p:cNvPr id="10" name="Text 8"/>
          <p:cNvSpPr txBox="1"/>
          <p:nvPr/>
        </p:nvSpPr>
        <p:spPr>
          <a:xfrm>
            <a:off x="6460236" y="2834640"/>
            <a:ext cx="4997196" cy="256032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mut name = String::from("John");</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r1 = &amp;name;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println!("{r1}");</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 r1 is done</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r2 = &amp;mut name;    // ok now</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r2.push_str(" Smith");</a:t>
            </a:r>
            <a:endParaRPr lang="en-US" sz="1200" dirty="0"/>
          </a:p>
        </p:txBody>
      </p:sp>
      <p:sp>
        <p:nvSpPr>
          <p:cNvPr id="11" name="Text 9"/>
          <p:cNvSpPr txBox="1"/>
          <p:nvPr/>
        </p:nvSpPr>
        <p:spPr>
          <a:xfrm>
            <a:off x="548640" y="5623560"/>
            <a:ext cx="5362956" cy="365760"/>
          </a:xfrm>
          <a:prstGeom prst="rect">
            <a:avLst/>
          </a:prstGeom>
          <a:noFill/>
          <a:ln/>
        </p:spPr>
        <p:txBody>
          <a:bodyPr wrap="square" lIns="0" tIns="0" rIns="0" bIns="0" rtlCol="0" anchor="ctr"/>
          <a:lstStyle/>
          <a:p>
            <a:pPr marL="0" indent="0">
              <a:buNone/>
            </a:pPr>
            <a:r>
              <a:rPr lang="en-US" sz="1200" dirty="0">
                <a:solidFill>
                  <a:srgbClr val="9AA5AB"/>
                </a:solidFill>
                <a:latin typeface="Fira Sans" pitchFamily="34" charset="0"/>
                <a:ea typeface="Fira Sans" pitchFamily="34" charset="-122"/>
                <a:cs typeface="Fira Sans" pitchFamily="34" charset="-120"/>
              </a:rPr>
              <a:t>Compiler is not mad, just disappointed</a:t>
            </a:r>
            <a:endParaRPr lang="en-US" sz="1200" dirty="0"/>
          </a:p>
        </p:txBody>
      </p:sp>
      <p:sp>
        <p:nvSpPr>
          <p:cNvPr id="12" name="Text 10"/>
          <p:cNvSpPr txBox="1"/>
          <p:nvPr/>
        </p:nvSpPr>
        <p:spPr>
          <a:xfrm>
            <a:off x="6277356" y="5623560"/>
            <a:ext cx="5362956" cy="365760"/>
          </a:xfrm>
          <a:prstGeom prst="rect">
            <a:avLst/>
          </a:prstGeom>
          <a:noFill/>
          <a:ln/>
        </p:spPr>
        <p:txBody>
          <a:bodyPr wrap="square" lIns="0" tIns="0" rIns="0" bIns="0" rtlCol="0" anchor="ctr"/>
          <a:lstStyle/>
          <a:p>
            <a:pPr marL="0" indent="0">
              <a:buNone/>
            </a:pPr>
            <a:r>
              <a:rPr lang="en-US" sz="1200" dirty="0">
                <a:solidFill>
                  <a:srgbClr val="9AA5AB"/>
                </a:solidFill>
                <a:latin typeface="Fira Sans" pitchFamily="34" charset="0"/>
                <a:ea typeface="Fira Sans" pitchFamily="34" charset="-122"/>
                <a:cs typeface="Fira Sans" pitchFamily="34" charset="-120"/>
              </a:rPr>
              <a:t>Scope the reader, then write</a:t>
            </a:r>
            <a:endParaRPr lang="en-US" sz="12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That rule is exactly what a data race is. Rust checks it on every variable, in every function, before you run anything.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Strings and slices: goodbye StringBuilder?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STRINGS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16</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s = "Hello";          // immutable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 += ", world";              // new string</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sb = new StringBuilder();</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sb.Append("Hello").Append(", world");</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ReadOnlySpan&lt;char&gt; part = s.AsSpan(0, 5);</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string, StringBuilder, Span:</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three types, three habits</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mut s = String::from("Hello"); // owned, growable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s.push_str(", world");             // in place</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let part: &amp;str = &amp;s[0..5];   // borrowed slice</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shout(text: &amp;str) -&gt; String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text.to_uppercase()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shout(&amp;s);        // String lends as &amp;str</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shout("literal"); // literals are &amp;str</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String owns. &amp;str borrows. That is it.</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String is your StringBuilder and &amp;str is your ReadOnlySpan&lt;char&gt;, and every C# dev hits this wall in week two. It is the ownership rule again, applied to text.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payoff: fearless concurrency</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CONCURRENCY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private static int _count;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private static readonly object _lock = new();</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Parallel.For(0, 1000, _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lock (_lock) { _count++;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Forget the lock and it compiles,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runs, and is wrong 1 time in 10,000.</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compiler cannot see the race.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mut count = 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h = thread::spawn(|| { count += 1; });</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error[E0373]: closure may outlive the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current function, but it borrows `count`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Shared mutable state does not compile.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Say how you are sharing it: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let count = Arc::new(Mutex::new(0));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c = Arc::clone(&amp;count);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thread::spawn(move || { *c.lock().unwrap() += 1; });</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Send + Sync: the compiler's thread-safety proof</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Ownership plus the one-writer rule means a data race is a compile error, not a 2 a.m. page. That is the whole reason to sit through week two.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Channels: send the value, not the lock</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 CONCURRENCY</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18</a:t>
            </a:r>
            <a:endParaRPr lang="en-US" sz="900" dirty="0"/>
          </a:p>
        </p:txBody>
      </p:sp>
      <p:sp>
        <p:nvSpPr>
          <p:cNvPr id="5" name="Shape 3"/>
          <p:cNvSpPr/>
          <p:nvPr/>
        </p:nvSpPr>
        <p:spPr>
          <a:xfrm>
            <a:off x="548640"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7" name="Shape 5"/>
          <p:cNvSpPr/>
          <p:nvPr/>
        </p:nvSpPr>
        <p:spPr>
          <a:xfrm>
            <a:off x="548640" y="1737360"/>
            <a:ext cx="6400800" cy="3794760"/>
          </a:xfrm>
          <a:prstGeom prst="roundRect">
            <a:avLst>
              <a:gd name="adj" fmla="val 2410"/>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6035040" cy="35204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std::sync::mpsc;</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std::thread;</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main()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(tx, rx) = mpsc::channel();</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handle = thread::spawn(move ||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val = String::from("Hello");</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tx.send(val).unwrap();   // val moves into the channel</a:t>
            </a: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 val cannot be touched here anymore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let received = rx.recv().unwrap();  // ownership arrives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println!("Received: {received}");</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handle.join().unwrap();</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p:txBody>
      </p:sp>
      <p:sp>
        <p:nvSpPr>
          <p:cNvPr id="9" name="Shape 7"/>
          <p:cNvSpPr/>
          <p:nvPr/>
        </p:nvSpPr>
        <p:spPr>
          <a:xfrm>
            <a:off x="7315200" y="1325880"/>
            <a:ext cx="4325112" cy="1965960"/>
          </a:xfrm>
          <a:prstGeom prst="roundRect">
            <a:avLst>
              <a:gd name="adj" fmla="val 5581"/>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7589520" y="1618488"/>
            <a:ext cx="237744" cy="237744"/>
          </a:xfrm>
          <a:prstGeom prst="ellipse">
            <a:avLst/>
          </a:prstGeom>
          <a:solidFill>
            <a:srgbClr val="2E2459"/>
          </a:solidFill>
          <a:ln w="12700">
            <a:solidFill>
              <a:srgbClr val="2E2459"/>
            </a:solidFill>
            <a:prstDash val="solid"/>
          </a:ln>
        </p:spPr>
        <p:txBody>
          <a:bodyPr/>
          <a:lstStyle/>
          <a:p>
            <a:endParaRPr lang="en-US"/>
          </a:p>
        </p:txBody>
      </p:sp>
      <p:sp>
        <p:nvSpPr>
          <p:cNvPr id="11" name="Text 9"/>
          <p:cNvSpPr txBox="1"/>
          <p:nvPr/>
        </p:nvSpPr>
        <p:spPr>
          <a:xfrm>
            <a:off x="7955280" y="1508760"/>
            <a:ext cx="350215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The C# analog</a:t>
            </a:r>
            <a:endParaRPr lang="en-US" sz="1600" dirty="0"/>
          </a:p>
        </p:txBody>
      </p:sp>
      <p:sp>
        <p:nvSpPr>
          <p:cNvPr id="12" name="Text 10"/>
          <p:cNvSpPr txBox="1"/>
          <p:nvPr/>
        </p:nvSpPr>
        <p:spPr>
          <a:xfrm>
            <a:off x="7589520" y="2057400"/>
            <a:ext cx="3776472" cy="105156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System.Threading.Channels does the same job. The difference is that Rust moves the value through the channel, so the sender literally cannot keep using it.</a:t>
            </a:r>
            <a:endParaRPr lang="en-US" sz="1400" dirty="0"/>
          </a:p>
        </p:txBody>
      </p:sp>
      <p:sp>
        <p:nvSpPr>
          <p:cNvPr id="13" name="Shape 11"/>
          <p:cNvSpPr/>
          <p:nvPr/>
        </p:nvSpPr>
        <p:spPr>
          <a:xfrm>
            <a:off x="7315200" y="3520440"/>
            <a:ext cx="4325112"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14" name="Shape 12"/>
          <p:cNvSpPr/>
          <p:nvPr/>
        </p:nvSpPr>
        <p:spPr>
          <a:xfrm>
            <a:off x="7589520" y="3813048"/>
            <a:ext cx="237744" cy="237744"/>
          </a:xfrm>
          <a:prstGeom prst="ellipse">
            <a:avLst/>
          </a:prstGeom>
          <a:solidFill>
            <a:srgbClr val="FFC832"/>
          </a:solidFill>
          <a:ln w="12700">
            <a:solidFill>
              <a:srgbClr val="FFC832"/>
            </a:solidFill>
            <a:prstDash val="solid"/>
          </a:ln>
        </p:spPr>
        <p:txBody>
          <a:bodyPr/>
          <a:lstStyle/>
          <a:p>
            <a:endParaRPr lang="en-US"/>
          </a:p>
        </p:txBody>
      </p:sp>
      <p:sp>
        <p:nvSpPr>
          <p:cNvPr id="15" name="Text 13"/>
          <p:cNvSpPr txBox="1"/>
          <p:nvPr/>
        </p:nvSpPr>
        <p:spPr>
          <a:xfrm>
            <a:off x="7955280" y="3703320"/>
            <a:ext cx="3502152"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Why this matters</a:t>
            </a:r>
            <a:endParaRPr lang="en-US" sz="1600" dirty="0"/>
          </a:p>
        </p:txBody>
      </p:sp>
      <p:sp>
        <p:nvSpPr>
          <p:cNvPr id="16" name="Text 14"/>
          <p:cNvSpPr txBox="1"/>
          <p:nvPr/>
        </p:nvSpPr>
        <p:spPr>
          <a:xfrm>
            <a:off x="7589520" y="4251960"/>
            <a:ext cx="3776472"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Share by communicating instead of communicating by sharing. Ownership makes that the path of least resistance.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Week 2: ownership week</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2 REFLECTION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19</a:t>
            </a:r>
            <a:endParaRPr lang="en-US" sz="900" dirty="0"/>
          </a:p>
        </p:txBody>
      </p:sp>
      <p:sp>
        <p:nvSpPr>
          <p:cNvPr id="5" name="Shape 3"/>
          <p:cNvSpPr/>
          <p:nvPr/>
        </p:nvSpPr>
        <p:spPr>
          <a:xfrm>
            <a:off x="548640" y="1371600"/>
            <a:ext cx="5669280" cy="4206240"/>
          </a:xfrm>
          <a:prstGeom prst="roundRect">
            <a:avLst>
              <a:gd name="adj" fmla="val 2609"/>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822960" y="1521372"/>
            <a:ext cx="914400" cy="1097280"/>
          </a:xfrm>
          <a:prstGeom prst="rect">
            <a:avLst/>
          </a:prstGeom>
          <a:noFill/>
          <a:ln/>
        </p:spPr>
        <p:txBody>
          <a:bodyPr wrap="square" lIns="0" tIns="0" rIns="0" bIns="0" rtlCol="0" anchor="ctr"/>
          <a:lstStyle/>
          <a:p>
            <a:pPr marL="0" indent="0">
              <a:buNone/>
            </a:pPr>
            <a:r>
              <a:rPr lang="en-US" sz="7200" dirty="0">
                <a:solidFill>
                  <a:srgbClr val="FFC832"/>
                </a:solidFill>
                <a:latin typeface="Alfa Slab One" pitchFamily="34" charset="0"/>
                <a:ea typeface="Alfa Slab One" pitchFamily="34" charset="-122"/>
                <a:cs typeface="Alfa Slab One" pitchFamily="34" charset="-120"/>
              </a:rPr>
              <a:t>“</a:t>
            </a:r>
            <a:endParaRPr lang="en-US" sz="7200" dirty="0"/>
          </a:p>
        </p:txBody>
      </p:sp>
      <p:sp>
        <p:nvSpPr>
          <p:cNvPr id="7" name="Text 5"/>
          <p:cNvSpPr txBox="1"/>
          <p:nvPr/>
        </p:nvSpPr>
        <p:spPr>
          <a:xfrm>
            <a:off x="914400" y="2286000"/>
            <a:ext cx="5029200" cy="3017520"/>
          </a:xfrm>
          <a:prstGeom prst="rect">
            <a:avLst/>
          </a:prstGeom>
          <a:noFill/>
          <a:ln/>
        </p:spPr>
        <p:txBody>
          <a:bodyPr wrap="square" lIns="0" tIns="0" rIns="0" bIns="0" rtlCol="0" anchor="t"/>
          <a:lstStyle/>
          <a:p>
            <a:pPr marL="0" indent="0">
              <a:buNone/>
            </a:pPr>
            <a:r>
              <a:rPr lang="en-US" sz="2000" i="1" dirty="0">
                <a:solidFill>
                  <a:srgbClr val="FFFFFF"/>
                </a:solidFill>
                <a:latin typeface="Fira Sans" pitchFamily="34" charset="0"/>
                <a:ea typeface="Fira Sans" pitchFamily="34" charset="-122"/>
                <a:cs typeface="Fira Sans" pitchFamily="34" charset="-120"/>
              </a:rPr>
              <a:t>“You can’t touch this memory, it’s mine!” the compiler screamed at me, repeatedly.</a:t>
            </a:r>
            <a:endParaRPr lang="en-US" sz="2000" dirty="0"/>
          </a:p>
          <a:p>
            <a:pPr marL="0" indent="0">
              <a:buNone/>
            </a:pPr>
            <a:endParaRPr lang="en-US" sz="2000" dirty="0"/>
          </a:p>
          <a:p>
            <a:pPr marL="0" indent="0">
              <a:buNone/>
            </a:pPr>
            <a:r>
              <a:rPr lang="en-US" sz="2000" i="1" dirty="0">
                <a:solidFill>
                  <a:srgbClr val="FFFFFF"/>
                </a:solidFill>
                <a:latin typeface="Fira Sans" pitchFamily="34" charset="0"/>
                <a:ea typeface="Fira Sans" pitchFamily="34" charset="-122"/>
                <a:cs typeface="Fira Sans" pitchFamily="34" charset="-120"/>
              </a:rPr>
              <a:t>Then it clicked: Rust pushes every memory question to the front, at compile time, instead of hiding it in runtime overhead. The strain is what learning feels like.</a:t>
            </a:r>
            <a:endParaRPr lang="en-US" sz="2000" dirty="0"/>
          </a:p>
        </p:txBody>
      </p:sp>
      <p:sp>
        <p:nvSpPr>
          <p:cNvPr id="8" name="Text 6"/>
          <p:cNvSpPr txBox="1"/>
          <p:nvPr/>
        </p:nvSpPr>
        <p:spPr>
          <a:xfrm>
            <a:off x="6675120" y="1371600"/>
            <a:ext cx="4965192" cy="457200"/>
          </a:xfrm>
          <a:prstGeom prst="rect">
            <a:avLst/>
          </a:prstGeom>
          <a:noFill/>
          <a:ln/>
        </p:spPr>
        <p:txBody>
          <a:bodyPr wrap="square" lIns="0" tIns="0" rIns="0" bIns="0" rtlCol="0" anchor="ctr"/>
          <a:lstStyle/>
          <a:p>
            <a:pPr marL="0" indent="0">
              <a:buNone/>
            </a:pPr>
            <a:r>
              <a:rPr lang="en-US" sz="1400" b="1" kern="0" spc="100" dirty="0">
                <a:solidFill>
                  <a:srgbClr val="A72145"/>
                </a:solidFill>
                <a:latin typeface="Fira Sans" pitchFamily="34" charset="0"/>
                <a:ea typeface="Fira Sans" pitchFamily="34" charset="-122"/>
                <a:cs typeface="Fira Sans" pitchFamily="34" charset="-120"/>
              </a:rPr>
              <a:t>What this changed about my C#</a:t>
            </a:r>
            <a:endParaRPr lang="en-US" sz="1400" dirty="0"/>
          </a:p>
        </p:txBody>
      </p:sp>
      <p:sp>
        <p:nvSpPr>
          <p:cNvPr id="9" name="Text 7"/>
          <p:cNvSpPr txBox="1"/>
          <p:nvPr/>
        </p:nvSpPr>
        <p:spPr>
          <a:xfrm>
            <a:off x="6675120" y="1874520"/>
            <a:ext cx="4965192"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ask “who owns this value?” even when the GC is doing the cleanup.</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reach for ref readonly, in, Span&lt;T&gt;, and readonly struct on purpose now.</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stopped handing mutable collections to three callers and hoping.</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read data races as a design smell, not a locking problem.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7261"/>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3</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Data Modeling That Fights Back</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Enums, match, and Option make the bad states impossible to write down.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Structs vs classes: less is more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STRUCTS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21</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public class User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string Username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string Email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bool Active { get; set;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ulong SignInCount { get; set; }</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public void Deactivate() =&gt; Active = false;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reference type, inheritable, virtual-able,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GC-managed, null-able</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struct User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username: String,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email: String,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active: bool,</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sign_in_count: u64,</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impl User {   // behavior lives in impl blocks</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fn deactivate(&amp;mut self) { self.active = false;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9AA5AB"/>
                </a:solidFill>
                <a:latin typeface="Fira Mono" pitchFamily="34" charset="0"/>
                <a:ea typeface="Fira Mono" pitchFamily="34" charset="-122"/>
                <a:cs typeface="Fira Mono" pitchFamily="34" charset="-120"/>
              </a:rPr>
              <a:t>// data is data, no inheritance, no hidden vtable</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struct is just the data. Methods go in impl blocks, and there is no inheritance to reach for, which turns out to be the point.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Enums: discriminated unions done right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ENUMS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abstract record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Quit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Move(int X, int Y)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Write(string Text) :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record ChangeColor(int R, int G, int B) : Message;</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Nothing stops a fifth subtype in another file.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Nothing forces callers to handle all four.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(sealed hierarchies help, still not exhaustive)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enum Message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Quit,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Move { x: i32, y: i32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Write(String),</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ChangeColor(i32, i32, i32),</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Each variant carries its own data.</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set of variants is closed.</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match must handle every one.</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m = Message::Move { x: 3, y: 4 };</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Rust enum is a closed set of shapes, each with its own payload. It is the single feature I miss most when I go back to C#.</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match: switch on steroids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PATTERN MATCHING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23</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2606040"/>
          </a:xfrm>
          <a:prstGeom prst="roundRect">
            <a:avLst>
              <a:gd name="adj" fmla="val 3509"/>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23317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var label = number switch</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1 =&gt; "One",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2 or 3 or 5 or 7 =&gt; "Prime",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4 and &lt;= 10 =&gt; "Between 4 and 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_ =&gt; "Something else"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 8+ is close on syntax. Credit where due.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2606040"/>
          </a:xfrm>
          <a:prstGeom prst="roundRect">
            <a:avLst>
              <a:gd name="adj" fmla="val 3509"/>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23317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label = match number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1 =&gt; "One",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2 | 3 | 5 | 7 =&gt; "Prime",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4..=10 =&gt; "Between 4 and 10",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_ =&gt; "Something else",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Same idea, one big difference below.</a:t>
            </a:r>
            <a:endParaRPr lang="en-US" sz="1100" dirty="0"/>
          </a:p>
        </p:txBody>
      </p:sp>
      <p:sp>
        <p:nvSpPr>
          <p:cNvPr id="13" name="Shape 11"/>
          <p:cNvSpPr/>
          <p:nvPr/>
        </p:nvSpPr>
        <p:spPr>
          <a:xfrm>
            <a:off x="548640" y="4526280"/>
            <a:ext cx="11091672" cy="1234440"/>
          </a:xfrm>
          <a:prstGeom prst="roundRect">
            <a:avLst>
              <a:gd name="adj" fmla="val 7407"/>
            </a:avLst>
          </a:prstGeom>
          <a:solidFill>
            <a:srgbClr val="2B2B2B"/>
          </a:solidFill>
          <a:ln w="12700">
            <a:solidFill>
              <a:srgbClr val="2B2B2B"/>
            </a:solidFill>
            <a:prstDash val="solid"/>
          </a:ln>
        </p:spPr>
        <p:txBody>
          <a:bodyPr/>
          <a:lstStyle/>
          <a:p>
            <a:endParaRPr lang="en-US"/>
          </a:p>
        </p:txBody>
      </p:sp>
      <p:sp>
        <p:nvSpPr>
          <p:cNvPr id="14" name="Text 12"/>
          <p:cNvSpPr txBox="1"/>
          <p:nvPr/>
        </p:nvSpPr>
        <p:spPr>
          <a:xfrm>
            <a:off x="731520" y="4663440"/>
            <a:ext cx="10725912" cy="96012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match msg { Message::Quit =&gt; quit(), Message::Move { x, y } =&gt; go(x, y), Message::Write(t) =&gt; log(t)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error[E0004]: non-exhaustive patterns: `Message::ChangeColor(_, _, _)` not covered</a:t>
            </a:r>
            <a:endParaRPr lang="en-US" sz="1100" dirty="0"/>
          </a:p>
        </p:txBody>
      </p:sp>
      <p:sp>
        <p:nvSpPr>
          <p:cNvPr id="15" name="Shape 13"/>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6" name="Text 14"/>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Forget a case in C# and you get a runtime exception or a silent default. Forget one in Rust and it does not compile.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Destructuring: the power move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DESTRUCTURING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(x, y) = point;                 // tuples</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if (shape is Circle { Radius: &gt; 0 } c)</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Console.WriteLine(c.Radius);  // property</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area = shape switch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Circle(var r) =&gt; Math.PI * r * 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Rect(var w, var h) =&gt; w * 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_ =&gt; throw new UnreachableException()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(x, y) = point;                 // tuples</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if let Circle { radius } = shape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println!("{radius}");    // one arm</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area = match shape {</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Shape::Circle { radius } =&gt; PI * radius * radius,</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Shape::Rect { w, h } =&gt; w * h,</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 no _ needed</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let Point { x, .. } = p;            // pick fields</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power, but Rust's arms pull the payload out of the enum variant directly, and the compiler already knows there is nothing left over.</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Option&lt;T&gt;: where null is not an option</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 OPTION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string? name = FindName(id);</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Console.WriteLine(name.Length);</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warning CS8602: dereference of a</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possibly null reference. Ships anyway.</a:t>
            </a:r>
            <a:endParaRPr lang="en-US" sz="1400" dirty="0"/>
          </a:p>
          <a:p>
            <a:pPr marL="0" indent="0">
              <a:lnSpc>
                <a:spcPct val="105000"/>
              </a:lnSpc>
              <a:buNone/>
            </a:pP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int? n = TryParse(s);</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if (n.HasValue) Use(n.Value);</a:t>
            </a:r>
            <a:endParaRPr lang="en-US" sz="1400" dirty="0"/>
          </a:p>
          <a:p>
            <a:pPr marL="0" indent="0">
              <a:lnSpc>
                <a:spcPct val="105000"/>
              </a:lnSpc>
              <a:buNone/>
            </a:pPr>
            <a:r>
              <a:rPr lang="en-US" sz="1400" dirty="0">
                <a:solidFill>
                  <a:srgbClr val="F8F8F2"/>
                </a:solidFill>
                <a:latin typeface="Fira Mono" pitchFamily="34" charset="0"/>
                <a:ea typeface="Fira Mono" pitchFamily="34" charset="-122"/>
                <a:cs typeface="Fira Mono" pitchFamily="34" charset="-120"/>
              </a:rPr>
              <a:t>var v = n ?? 0;</a:t>
            </a:r>
            <a:endParaRPr lang="en-US" sz="1400" dirty="0"/>
          </a:p>
          <a:p>
            <a:pPr marL="0" indent="0">
              <a:lnSpc>
                <a:spcPct val="105000"/>
              </a:lnSpc>
              <a:buNone/>
            </a:pP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Nullable reference types are warnings.</a:t>
            </a:r>
            <a:endParaRPr lang="en-US" sz="1400" dirty="0"/>
          </a:p>
          <a:p>
            <a:pPr marL="0" indent="0">
              <a:lnSpc>
                <a:spcPct val="105000"/>
              </a:lnSpc>
              <a:buNone/>
            </a:pPr>
            <a:r>
              <a:rPr lang="en-US" sz="1400" dirty="0">
                <a:solidFill>
                  <a:srgbClr val="9AA5AB"/>
                </a:solidFill>
                <a:latin typeface="Fira Mono" pitchFamily="34" charset="0"/>
                <a:ea typeface="Fira Mono" pitchFamily="34" charset="-122"/>
                <a:cs typeface="Fira Mono" pitchFamily="34" charset="-120"/>
              </a:rPr>
              <a:t>// NullReferenceException is still waiting.</a:t>
            </a:r>
            <a:endParaRPr lang="en-US" sz="14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name: Option&lt;String&gt; = find_name(id);</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name.len()  -&gt; does not compile</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match name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Some(n) =&gt; println!("{}", n.len()),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None =&gt; println!("no name"),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v = n.unwrap_or(0);          // like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len = name.map(|n| n.len()); // like ?.</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Absence is a type. You cannot forget it.</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C# nullable is a warning you can suppress. Option is a type you have to unwrap. Same idea, different enforcement, very different production.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Week 3: data modeling</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3 REFLECTION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27</a:t>
            </a:r>
            <a:endParaRPr lang="en-US" sz="900" dirty="0"/>
          </a:p>
        </p:txBody>
      </p:sp>
      <p:sp>
        <p:nvSpPr>
          <p:cNvPr id="5" name="Shape 3"/>
          <p:cNvSpPr/>
          <p:nvPr/>
        </p:nvSpPr>
        <p:spPr>
          <a:xfrm>
            <a:off x="548640" y="1371600"/>
            <a:ext cx="5669280" cy="4206240"/>
          </a:xfrm>
          <a:prstGeom prst="roundRect">
            <a:avLst>
              <a:gd name="adj" fmla="val 2609"/>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822960" y="1325880"/>
            <a:ext cx="914400" cy="1097280"/>
          </a:xfrm>
          <a:prstGeom prst="rect">
            <a:avLst/>
          </a:prstGeom>
          <a:noFill/>
          <a:ln/>
        </p:spPr>
        <p:txBody>
          <a:bodyPr wrap="square" lIns="0" tIns="0" rIns="0" bIns="0" rtlCol="0" anchor="ctr"/>
          <a:lstStyle/>
          <a:p>
            <a:pPr marL="0" indent="0">
              <a:buNone/>
            </a:pPr>
            <a:r>
              <a:rPr lang="en-US" sz="7200" dirty="0">
                <a:solidFill>
                  <a:srgbClr val="FFC832"/>
                </a:solidFill>
                <a:latin typeface="Alfa Slab One" pitchFamily="34" charset="0"/>
                <a:ea typeface="Alfa Slab One" pitchFamily="34" charset="-122"/>
                <a:cs typeface="Alfa Slab One" pitchFamily="34" charset="-120"/>
              </a:rPr>
              <a:t>“</a:t>
            </a:r>
            <a:endParaRPr lang="en-US" sz="7200" dirty="0"/>
          </a:p>
        </p:txBody>
      </p:sp>
      <p:sp>
        <p:nvSpPr>
          <p:cNvPr id="7" name="Text 5"/>
          <p:cNvSpPr txBox="1"/>
          <p:nvPr/>
        </p:nvSpPr>
        <p:spPr>
          <a:xfrm>
            <a:off x="914400" y="2286000"/>
            <a:ext cx="5029200" cy="3017520"/>
          </a:xfrm>
          <a:prstGeom prst="rect">
            <a:avLst/>
          </a:prstGeom>
          <a:noFill/>
          <a:ln/>
        </p:spPr>
        <p:txBody>
          <a:bodyPr wrap="square" lIns="0" tIns="0" rIns="0" bIns="0" rtlCol="0" anchor="t"/>
          <a:lstStyle/>
          <a:p>
            <a:pPr marL="0" indent="0">
              <a:buNone/>
            </a:pPr>
            <a:r>
              <a:rPr lang="en-US" sz="2000" i="1" dirty="0">
                <a:solidFill>
                  <a:srgbClr val="FFFFFF"/>
                </a:solidFill>
                <a:latin typeface="Fira Sans" pitchFamily="34" charset="0"/>
                <a:ea typeface="Fira Sans" pitchFamily="34" charset="-122"/>
                <a:cs typeface="Fira Sans" pitchFamily="34" charset="-120"/>
              </a:rPr>
              <a:t>Discriminated unions with pattern matching felt like a superpower compared to class hierarchies.</a:t>
            </a:r>
            <a:endParaRPr lang="en-US" sz="2000" dirty="0"/>
          </a:p>
          <a:p>
            <a:pPr marL="0" indent="0">
              <a:buNone/>
            </a:pPr>
            <a:endParaRPr lang="en-US" sz="2000" dirty="0"/>
          </a:p>
          <a:p>
            <a:pPr marL="0" indent="0">
              <a:buNone/>
            </a:pPr>
            <a:r>
              <a:rPr lang="en-US" sz="2000" i="1" dirty="0">
                <a:solidFill>
                  <a:srgbClr val="FFFFFF"/>
                </a:solidFill>
                <a:latin typeface="Fira Sans" pitchFamily="34" charset="0"/>
                <a:ea typeface="Fira Sans" pitchFamily="34" charset="-122"/>
                <a:cs typeface="Fira Sans" pitchFamily="34" charset="-120"/>
              </a:rPr>
              <a:t>I kept catching myself modeling state as a status enum plus a pile of nullable fields, and realizing Rust would have refused to compile half of my past designs.</a:t>
            </a:r>
            <a:endParaRPr lang="en-US" sz="2000" dirty="0"/>
          </a:p>
        </p:txBody>
      </p:sp>
      <p:sp>
        <p:nvSpPr>
          <p:cNvPr id="8" name="Text 6"/>
          <p:cNvSpPr txBox="1"/>
          <p:nvPr/>
        </p:nvSpPr>
        <p:spPr>
          <a:xfrm>
            <a:off x="6675120" y="1371600"/>
            <a:ext cx="4965192" cy="457200"/>
          </a:xfrm>
          <a:prstGeom prst="rect">
            <a:avLst/>
          </a:prstGeom>
          <a:noFill/>
          <a:ln/>
        </p:spPr>
        <p:txBody>
          <a:bodyPr wrap="square" lIns="0" tIns="0" rIns="0" bIns="0" rtlCol="0" anchor="ctr"/>
          <a:lstStyle/>
          <a:p>
            <a:pPr marL="0" indent="0">
              <a:buNone/>
            </a:pPr>
            <a:r>
              <a:rPr lang="en-US" sz="1400" b="1" kern="0" spc="100" dirty="0">
                <a:solidFill>
                  <a:srgbClr val="0B7261"/>
                </a:solidFill>
                <a:latin typeface="Fira Sans" pitchFamily="34" charset="0"/>
                <a:ea typeface="Fira Sans" pitchFamily="34" charset="-122"/>
                <a:cs typeface="Fira Sans" pitchFamily="34" charset="-120"/>
              </a:rPr>
              <a:t>What this changed about my C#</a:t>
            </a:r>
            <a:endParaRPr lang="en-US" sz="1400" dirty="0"/>
          </a:p>
        </p:txBody>
      </p:sp>
      <p:sp>
        <p:nvSpPr>
          <p:cNvPr id="9" name="Text 7"/>
          <p:cNvSpPr txBox="1"/>
          <p:nvPr/>
        </p:nvSpPr>
        <p:spPr>
          <a:xfrm>
            <a:off x="6675120" y="1874520"/>
            <a:ext cx="4965192"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reach for records and sealed hierarchies before class trees.</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use switch expressions and property patterns instead of if-chains on a status field.</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treat nullable warnings as errors in new projects (TreatWarningsAsErrors is a one-liner).</a:t>
            </a:r>
            <a:endParaRPr lang="en-US" sz="1600" dirty="0"/>
          </a:p>
          <a:p>
            <a:pPr marL="342900" indent="-342900">
              <a:spcAft>
                <a:spcPts val="1000"/>
              </a:spcAft>
              <a:buSzPct val="100000"/>
              <a:buChar char="•"/>
            </a:pPr>
            <a:r>
              <a:rPr lang="en-US" sz="1600" dirty="0">
                <a:solidFill>
                  <a:srgbClr val="3C3C3C"/>
                </a:solidFill>
                <a:latin typeface="Fira Sans" pitchFamily="34" charset="0"/>
                <a:ea typeface="Fira Sans" pitchFamily="34" charset="-122"/>
                <a:cs typeface="Fira Sans" pitchFamily="34" charset="-120"/>
              </a:rPr>
              <a:t>I model states as types, and put the state-specific data inside the state.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2E245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4</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Errors and Structure</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Result and ? put failure in the function signature, where the caller cannot ignore it.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Result&lt;T, E&gt;: a better way to fail</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RESULT</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29</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string ReadConfig(string 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=&gt; File.ReadAllText(path);</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try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data = ReadConfig("config.txt");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catch (IOException ex)</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Console.WriteLine($"Failed: {ex.Message}");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The signature says string. It lies.</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fn read_config(path: &amp;str)</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-&gt; Result&lt;String, io::Error&gt;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fs::read_to_string(path)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match read_config("config.txt")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Ok(data) =&gt; println!("{data}"),</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Err(e) =&gt; eprintln!("Failed: {e}"),</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The signature says: a String, or an</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io::Error. Ignore the Err and the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compiler warns you. Loudly.</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Failure is part of the return type. You think about the what-ifs when you write the signature, not when the pager goes off.</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 operator: so simple, so smart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PROPAGATION</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30</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string LoadAndParse(string 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try</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text = File.ReadAllText(path);</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return Parse(text);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catch (IOException) { throw;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catch (FormatException) { throw;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Or write nothing and let it fly, unseen.</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fn load_and_parse(path: &amp;str)</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-&gt; Result&lt;Config, AppError&gt; {</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let text = fs::read_to_string(path)?;</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let cfg = parse(&amp;text)?;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Ok(cfg)</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means: if this is Err, return it now,</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converted into my error type.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If it is Ok, unwrap and keep going.</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Also works on Option: value?</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One character replaces the nested try/catch, and once you are used to it, going back to nested try/catch feels like using a fax machine.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panic! vs exceptions: stop or handle?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FAILURE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31</a:t>
            </a:r>
            <a:endParaRPr lang="en-US" sz="900" dirty="0"/>
          </a:p>
        </p:txBody>
      </p:sp>
      <p:sp>
        <p:nvSpPr>
          <p:cNvPr id="5" name="Shape 3"/>
          <p:cNvSpPr/>
          <p:nvPr/>
        </p:nvSpPr>
        <p:spPr>
          <a:xfrm>
            <a:off x="548640" y="1371600"/>
            <a:ext cx="5303520"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6" name="Shape 4"/>
          <p:cNvSpPr/>
          <p:nvPr/>
        </p:nvSpPr>
        <p:spPr>
          <a:xfrm>
            <a:off x="822960" y="1664208"/>
            <a:ext cx="237744" cy="237744"/>
          </a:xfrm>
          <a:prstGeom prst="ellipse">
            <a:avLst/>
          </a:prstGeom>
          <a:solidFill>
            <a:srgbClr val="2E2459"/>
          </a:solidFill>
          <a:ln w="12700">
            <a:solidFill>
              <a:srgbClr val="2E2459"/>
            </a:solidFill>
            <a:prstDash val="solid"/>
          </a:ln>
        </p:spPr>
        <p:txBody>
          <a:bodyPr/>
          <a:lstStyle/>
          <a:p>
            <a:endParaRPr lang="en-US"/>
          </a:p>
        </p:txBody>
      </p:sp>
      <p:sp>
        <p:nvSpPr>
          <p:cNvPr id="7" name="Text 5"/>
          <p:cNvSpPr txBox="1"/>
          <p:nvPr/>
        </p:nvSpPr>
        <p:spPr>
          <a:xfrm>
            <a:off x="1188720" y="1554480"/>
            <a:ext cx="448056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C#: one mechanism for everything</a:t>
            </a:r>
            <a:endParaRPr lang="en-US" sz="1600" dirty="0"/>
          </a:p>
        </p:txBody>
      </p:sp>
      <p:sp>
        <p:nvSpPr>
          <p:cNvPr id="8" name="Text 6"/>
          <p:cNvSpPr txBox="1"/>
          <p:nvPr/>
        </p:nvSpPr>
        <p:spPr>
          <a:xfrm>
            <a:off x="822960" y="2103120"/>
            <a:ext cx="4754880"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A missing file, bad user input, and a corrupted invariant all throw. The type system does not distinguish “handle this” from “this should never happen.”</a:t>
            </a:r>
            <a:endParaRPr lang="en-US" sz="1400" dirty="0"/>
          </a:p>
        </p:txBody>
      </p:sp>
      <p:sp>
        <p:nvSpPr>
          <p:cNvPr id="9" name="Shape 7"/>
          <p:cNvSpPr/>
          <p:nvPr/>
        </p:nvSpPr>
        <p:spPr>
          <a:xfrm>
            <a:off x="548640" y="3566160"/>
            <a:ext cx="5303520" cy="2011680"/>
          </a:xfrm>
          <a:prstGeom prst="roundRect">
            <a:avLst>
              <a:gd name="adj" fmla="val 5455"/>
            </a:avLst>
          </a:prstGeom>
          <a:solidFill>
            <a:srgbClr val="F4F5F6"/>
          </a:solidFill>
          <a:ln w="12700">
            <a:solidFill>
              <a:srgbClr val="F4F5F6"/>
            </a:solidFill>
            <a:prstDash val="solid"/>
          </a:ln>
        </p:spPr>
        <p:txBody>
          <a:bodyPr/>
          <a:lstStyle/>
          <a:p>
            <a:endParaRPr lang="en-US"/>
          </a:p>
        </p:txBody>
      </p:sp>
      <p:sp>
        <p:nvSpPr>
          <p:cNvPr id="10" name="Shape 8"/>
          <p:cNvSpPr/>
          <p:nvPr/>
        </p:nvSpPr>
        <p:spPr>
          <a:xfrm>
            <a:off x="822960" y="3858768"/>
            <a:ext cx="237744" cy="237744"/>
          </a:xfrm>
          <a:prstGeom prst="ellipse">
            <a:avLst/>
          </a:prstGeom>
          <a:solidFill>
            <a:srgbClr val="A72145"/>
          </a:solidFill>
          <a:ln w="12700">
            <a:solidFill>
              <a:srgbClr val="A72145"/>
            </a:solidFill>
            <a:prstDash val="solid"/>
          </a:ln>
        </p:spPr>
        <p:txBody>
          <a:bodyPr/>
          <a:lstStyle/>
          <a:p>
            <a:endParaRPr lang="en-US"/>
          </a:p>
        </p:txBody>
      </p:sp>
      <p:sp>
        <p:nvSpPr>
          <p:cNvPr id="11" name="Text 9"/>
          <p:cNvSpPr txBox="1"/>
          <p:nvPr/>
        </p:nvSpPr>
        <p:spPr>
          <a:xfrm>
            <a:off x="1188720" y="3749040"/>
            <a:ext cx="4480560"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Rust: two tiers, on purpose</a:t>
            </a:r>
            <a:endParaRPr lang="en-US" sz="1600" dirty="0"/>
          </a:p>
        </p:txBody>
      </p:sp>
      <p:sp>
        <p:nvSpPr>
          <p:cNvPr id="12" name="Text 10"/>
          <p:cNvSpPr txBox="1"/>
          <p:nvPr/>
        </p:nvSpPr>
        <p:spPr>
          <a:xfrm>
            <a:off x="822960" y="4297680"/>
            <a:ext cx="4754880" cy="109728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Recoverable errors are Result. Unrecoverable ones are panic!, the equivalent of Environment.FailFast. You are discouraged from catching a panic outside a test harness.</a:t>
            </a:r>
            <a:endParaRPr lang="en-US" sz="1400" dirty="0"/>
          </a:p>
        </p:txBody>
      </p:sp>
      <p:sp>
        <p:nvSpPr>
          <p:cNvPr id="13" name="Shape 11"/>
          <p:cNvSpPr/>
          <p:nvPr/>
        </p:nvSpPr>
        <p:spPr>
          <a:xfrm>
            <a:off x="6217920" y="1371600"/>
            <a:ext cx="5422392" cy="4206240"/>
          </a:xfrm>
          <a:prstGeom prst="roundRect">
            <a:avLst>
              <a:gd name="adj" fmla="val 2174"/>
            </a:avLst>
          </a:prstGeom>
          <a:solidFill>
            <a:srgbClr val="2B2B2B"/>
          </a:solidFill>
          <a:ln w="12700">
            <a:solidFill>
              <a:srgbClr val="2B2B2B"/>
            </a:solidFill>
            <a:prstDash val="solid"/>
          </a:ln>
        </p:spPr>
        <p:txBody>
          <a:bodyPr/>
          <a:lstStyle/>
          <a:p>
            <a:endParaRPr lang="en-US"/>
          </a:p>
        </p:txBody>
      </p:sp>
      <p:sp>
        <p:nvSpPr>
          <p:cNvPr id="14" name="Text 12"/>
          <p:cNvSpPr txBox="1"/>
          <p:nvPr/>
        </p:nvSpPr>
        <p:spPr>
          <a:xfrm>
            <a:off x="6400800" y="1508760"/>
            <a:ext cx="5056632" cy="393192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Recoverable: the caller decides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fn parse_age(s: &amp;str) -&gt; Result&lt;u8, ParseIntError&gt;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s.parse::&lt;u8&gt;()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Unrecoverable: a bug, not an outcome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fn checked_index(v: &amp;[i32], i: usize) -&gt; i32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if i &gt;= v.len() { panic!("index {i} out of range");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v[i]</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unwrap() and expect() are panics you</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chose. Use them where None really is a bug.</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Rust unwinds the stack on panic,</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running Drop for cleanup on the way out.</a:t>
            </a:r>
            <a:endParaRPr lang="en-US" sz="1100" dirty="0"/>
          </a:p>
        </p:txBody>
      </p:sp>
      <p:sp>
        <p:nvSpPr>
          <p:cNvPr id="15" name="Shape 13"/>
          <p:cNvSpPr/>
          <p:nvPr/>
        </p:nvSpPr>
        <p:spPr>
          <a:xfrm>
            <a:off x="548640" y="5971032"/>
            <a:ext cx="201168" cy="201168"/>
          </a:xfrm>
          <a:prstGeom prst="ellipse">
            <a:avLst/>
          </a:prstGeom>
          <a:solidFill>
            <a:srgbClr val="FFC832"/>
          </a:solidFill>
          <a:ln w="12700">
            <a:solidFill>
              <a:srgbClr val="FFC832"/>
            </a:solidFill>
            <a:prstDash val="solid"/>
          </a:ln>
        </p:spPr>
        <p:txBody>
          <a:bodyPr/>
          <a:lstStyle/>
          <a:p>
            <a:endParaRPr lang="en-US"/>
          </a:p>
        </p:txBody>
      </p:sp>
      <p:sp>
        <p:nvSpPr>
          <p:cNvPr id="16" name="Text 14"/>
          <p:cNvSpPr txBox="1"/>
          <p:nvPr/>
        </p:nvSpPr>
        <p:spPr>
          <a:xfrm>
            <a:off x="914400" y="585216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Rust makes you say which kind of failure this is. That one decision cleans up more error-handling code than any library.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Custom errors: from Display to thiserror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CUSTOM ERRORS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32</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ConfigException : Exception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ConfigException(string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Exception inner)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base(message, inner) {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Then wrap and rethrow in every layer,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and hope the inner exception survives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trip up the stack.</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use thiserror::Error;</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#[derive(Error, Debug)]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 enum AppError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#[error("IO error: {0}")]</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Io(#[from] io::Error),</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#[error("bad config at line {line}: {msg}")]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Config { line: usize, msg: String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#[from] is what lets ? convert io::Error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into AppError for free. One enum, all</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failure modes, exhaustively matched.</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Your error type is an enum too. Every failure mode is a variant, and the same match that handled Message now handles what went wrong.</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Modules and Cargo vs namespaces and NuGet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E2459"/>
                </a:solidFill>
                <a:latin typeface="Fira Sans" pitchFamily="34" charset="0"/>
                <a:ea typeface="Fira Sans" pitchFamily="34" charset="-122"/>
                <a:cs typeface="Fira Sans" pitchFamily="34" charset="-120"/>
              </a:rPr>
              <a:t>WEEK 4 · STRUCTURE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82528" cy="3840480"/>
        </p:xfrm>
        <a:graphic>
          <a:graphicData uri="http://schemas.openxmlformats.org/drawingml/2006/table">
            <a:tbl>
              <a:tblPr/>
              <a:tblGrid>
                <a:gridCol w="219456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43984">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Task</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.NET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tc>
                  <a:txBody>
                    <a:bodyPr/>
                    <a:lstStyle/>
                    <a:p>
                      <a:pPr marL="0" indent="0">
                        <a:buNone/>
                      </a:pPr>
                      <a:r>
                        <a:rPr lang="en-US" sz="1300" b="1" dirty="0">
                          <a:solidFill>
                            <a:srgbClr val="FFFFFF"/>
                          </a:solidFill>
                          <a:latin typeface="Fira Sans" pitchFamily="34" charset="0"/>
                          <a:ea typeface="Fira Sans" pitchFamily="34" charset="-122"/>
                          <a:cs typeface="Fira Sans" pitchFamily="34" charset="-120"/>
                        </a:rPr>
                        <a:t>Rust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2A3439"/>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Group code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namespace, one per folder by convention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mod, declared in the tree; files are modules</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Visibility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public / internal / private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private by default, pub to expose, pub(crate) for internal</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Import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using System.Text;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use std::fmt;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Package unit</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Assembly (.dll) via csproj</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Crate via Cargo.toml</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Add a dependency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add package Serilog</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add serde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Registry</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nuget.org</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crates.io</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Lock file</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packages.lock.json (opt-in)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Cargo.lock (always)</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Build, test,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build / test /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build / test / run</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Publish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dotnet pack + nuget push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tc>
                  <a:txBody>
                    <a:bodyPr/>
                    <a:lstStyle/>
                    <a:p>
                      <a:pPr marL="0" indent="0">
                        <a:buNone/>
                      </a:pPr>
                      <a:r>
                        <a:rPr lang="en-US" sz="1300" dirty="0">
                          <a:solidFill>
                            <a:srgbClr val="3C3C3C"/>
                          </a:solidFill>
                          <a:latin typeface="Fira Sans" pitchFamily="34" charset="0"/>
                          <a:ea typeface="Fira Sans" pitchFamily="34" charset="-122"/>
                          <a:cs typeface="Fira Sans" pitchFamily="34" charset="-120"/>
                        </a:rPr>
                        <a:t>cargo publish</a:t>
                      </a:r>
                      <a:endParaRPr lang="en-US" sz="1300" dirty="0">
                        <a:latin typeface="Fira Sans" charset="0"/>
                        <a:ea typeface="Fira Sans" charset="0"/>
                        <a:cs typeface="Fira Sans" charset="0"/>
                      </a:endParaRPr>
                    </a:p>
                  </a:txBody>
                  <a:tcPr marL="73152" marR="73152" marT="73152" marB="73152">
                    <a:lnL w="6350" cap="flat" cmpd="sng" algn="ctr">
                      <a:solidFill>
                        <a:srgbClr val="E1E1E1"/>
                      </a:solidFill>
                      <a:prstDash val="solid"/>
                      <a:round/>
                      <a:headEnd type="none" w="med" len="med"/>
                      <a:tailEnd type="none" w="med" len="med"/>
                    </a:lnL>
                    <a:lnR w="6350" cap="flat" cmpd="sng" algn="ctr">
                      <a:solidFill>
                        <a:srgbClr val="E1E1E1"/>
                      </a:solidFill>
                      <a:prstDash val="solid"/>
                      <a:round/>
                      <a:headEnd type="none" w="med" len="med"/>
                      <a:tailEnd type="none" w="med" len="med"/>
                    </a:lnR>
                    <a:lnT w="6350" cap="flat" cmpd="sng" algn="ctr">
                      <a:solidFill>
                        <a:srgbClr val="E1E1E1"/>
                      </a:solidFill>
                      <a:prstDash val="solid"/>
                      <a:round/>
                      <a:headEnd type="none" w="med" len="med"/>
                      <a:tailEnd type="none" w="med" len="med"/>
                    </a:lnT>
                    <a:lnB w="6350" cap="flat" cmpd="sng" algn="ctr">
                      <a:solidFill>
                        <a:srgbClr val="E1E1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548640" y="5971032"/>
            <a:ext cx="201168" cy="201168"/>
          </a:xfrm>
          <a:prstGeom prst="ellipse">
            <a:avLst/>
          </a:prstGeom>
          <a:solidFill>
            <a:srgbClr val="FFC832"/>
          </a:solidFill>
          <a:ln w="12700">
            <a:solidFill>
              <a:srgbClr val="FFC832"/>
            </a:solidFill>
            <a:prstDash val="solid"/>
          </a:ln>
        </p:spPr>
        <p:txBody>
          <a:bodyPr/>
          <a:lstStyle/>
          <a:p>
            <a:endParaRPr lang="en-US"/>
          </a:p>
        </p:txBody>
      </p:sp>
      <p:sp>
        <p:nvSpPr>
          <p:cNvPr id="7" name="Text 4"/>
          <p:cNvSpPr txBox="1"/>
          <p:nvPr/>
        </p:nvSpPr>
        <p:spPr>
          <a:xfrm>
            <a:off x="914400" y="585216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Private by default and a lock file by default. Rust's structure defaults are the ones I keep wishing I had turned on in .NET from day one.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A72145"/>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5</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Power and Pain</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Traits are interfaces that do more. Lifetimes are the tax you pay for not having a GC.</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Traits: interfaces that do more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TRAITS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interface ILogger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void Log(string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void Warn(string m) =&gt; Log($"WARN {m}");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ConsoleLogger : ILogger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void Log(string 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Console.WriteLine(message);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Only types you own can implement it.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Constraint: where T : ILogger</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 trait Logger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log(&amp;self, message: &amp;str);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warn(&amp;self, m: &amp;str)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self.log(&amp;format!("WARN {m}"))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struct ConsoleLogger;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impl Logger for ConsoleLogger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log(&amp;self, message: &amp;str) { println!("{message}");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impl Logger for String { /* a type you don't own */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impl&lt;T: Display&gt; Logger for T { /* blanket impl */ }</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Constraint: fn run&lt;T: Logger&gt;(l: &amp;T)</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shape as an interface, plus two things C# cannot do: implement a trait for a type you do not own, and implement it for every type that meets a bound.</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Iterators and closures: LINQ transfers</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FUNCTIONAL</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37</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var result = orders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.Where(o =&gt; o.Total &gt; 100)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.Select(o =&gt; o.Total * 1.1m)</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.Take(10)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.ToList();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Func&lt;int, int&gt; addN = x =&gt; x + n;   // captures n</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Lazy until ToList. Allocates an</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enumerator per stage. Captures by</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reference into a compiler-made class.</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result: Vec&lt;f64&gt; = orders.iter()</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.filter(|o| o.total &gt; 100.0)</a:t>
            </a:r>
            <a:endParaRPr lang="en-US" sz="1300" dirty="0"/>
          </a:p>
          <a:p>
            <a:pPr marL="0" indent="0">
              <a:lnSpc>
                <a:spcPct val="105000"/>
              </a:lnSpc>
              <a:buNone/>
            </a:pPr>
            <a:r>
              <a:rPr lang="en-US" sz="1300" b="1" dirty="0">
                <a:solidFill>
                  <a:srgbClr val="FFC832"/>
                </a:solidFill>
                <a:latin typeface="Fira Mono" pitchFamily="34" charset="0"/>
                <a:ea typeface="Fira Mono" pitchFamily="34" charset="-122"/>
                <a:cs typeface="Fira Mono" pitchFamily="34" charset="-120"/>
              </a:rPr>
              <a:t>    .map(|o| o.total * 1.1)</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.take(10)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.collect();</a:t>
            </a:r>
            <a:endParaRPr lang="en-US" sz="1300" dirty="0"/>
          </a:p>
          <a:p>
            <a:pPr marL="0" indent="0">
              <a:lnSpc>
                <a:spcPct val="105000"/>
              </a:lnSpc>
              <a:buNone/>
            </a:pP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add_n = |x: i32| x + n;   // borrows n</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let own = move |x: i32| x + n; // takes n</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Lazy until collect. Zero-cost: compiles</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to the same loop you would write by hand.</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Closures say whether they borrow or own.</a:t>
            </a:r>
            <a:endParaRPr lang="en-US" sz="13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Where becomes filter, Select becomes map, ToList becomes collect. The habit transfers in an afternoon; the ownership rules just follow you into the closure.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Lifetimes: surviving the first encounter</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A72145"/>
                </a:solidFill>
                <a:latin typeface="Fira Sans" pitchFamily="34" charset="0"/>
                <a:ea typeface="Fira Sans" pitchFamily="34" charset="-122"/>
                <a:cs typeface="Fira Sans" pitchFamily="34" charset="-120"/>
              </a:rPr>
              <a:t>WEEK 5 · LIFETIMES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38</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string Longest(string x, string 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x.Length &gt; y.Length ? x : y;</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Returns a reference to one of the inputs.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GC keeps whichever one wins alive,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so nobody has to say which. Convenient.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Rust has no GC, so it needs to know:</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how long is the returned reference valid?</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fn longest&lt;'a&gt;(x: &amp;'a str, y: &amp;'a str) -&gt; &amp;'a str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if x.len() &gt; y.len() { x } else { y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s1 = String::from("long string is long");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result;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let s2 = String::from("xyz");</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result = longest(&amp;s1, &amp;s2);</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s2 dropped here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println!("{result}");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error: `s2` does not live long enough</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 means: the output lives no longer than</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the shortest input. Most code never writes one.</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one thing you will hate for a week and then stop noticing. It is the price of no GC, and elision means most functions never spell it out.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0B7261"/>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365760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6</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WEEK</a:t>
            </a:r>
            <a:endParaRPr lang="en-US" sz="1600" dirty="0"/>
          </a:p>
        </p:txBody>
      </p:sp>
      <p:sp>
        <p:nvSpPr>
          <p:cNvPr id="4" name="Text 2"/>
          <p:cNvSpPr txBox="1"/>
          <p:nvPr/>
        </p:nvSpPr>
        <p:spPr>
          <a:xfrm>
            <a:off x="4480560" y="1737360"/>
            <a:ext cx="715975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Shipping Something Real</a:t>
            </a:r>
            <a:endParaRPr lang="en-US" sz="4000" dirty="0"/>
          </a:p>
        </p:txBody>
      </p:sp>
      <p:sp>
        <p:nvSpPr>
          <p:cNvPr id="5" name="Text 3"/>
          <p:cNvSpPr txBox="1"/>
          <p:nvPr/>
        </p:nvSpPr>
        <p:spPr>
          <a:xfrm>
            <a:off x="4480560" y="3337560"/>
            <a:ext cx="7159752" cy="128016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A CLI, tests, a single binary, and a benchmark I had to correct in public.</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A CLI in ten lines with clap</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CLI</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40</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static int Main(string[] args)</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if (args.Length &lt; 1) { Usage(); return 1; }</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name = args[0];</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var excited = args.Contains("--excited")</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               || args.Contains("-e");</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...and --help, and validation, and</a:t>
            </a: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 the next flag, and the one after that</a:t>
            </a:r>
            <a:endParaRPr lang="en-US" sz="1300" dirty="0"/>
          </a:p>
          <a:p>
            <a:pPr marL="0" indent="0">
              <a:lnSpc>
                <a:spcPct val="105000"/>
              </a:lnSpc>
              <a:buNone/>
            </a:pPr>
            <a:r>
              <a:rPr lang="en-US" sz="1300" dirty="0">
                <a:solidFill>
                  <a:srgbClr val="F8F8F2"/>
                </a:solidFill>
                <a:latin typeface="Fira Mono" pitchFamily="34" charset="0"/>
                <a:ea typeface="Fira Mono" pitchFamily="34" charset="-122"/>
                <a:cs typeface="Fira Mono" pitchFamily="34" charset="-120"/>
              </a:rPr>
              <a:t>}</a:t>
            </a:r>
            <a:endParaRPr lang="en-US" sz="1300" dirty="0"/>
          </a:p>
          <a:p>
            <a:pPr marL="0" indent="0">
              <a:lnSpc>
                <a:spcPct val="105000"/>
              </a:lnSpc>
              <a:buNone/>
            </a:pPr>
            <a:endParaRPr lang="en-US" sz="1300" dirty="0"/>
          </a:p>
          <a:p>
            <a:pPr marL="0" indent="0">
              <a:lnSpc>
                <a:spcPct val="105000"/>
              </a:lnSpc>
              <a:buNone/>
            </a:pPr>
            <a:r>
              <a:rPr lang="en-US" sz="1300" dirty="0">
                <a:solidFill>
                  <a:srgbClr val="9AA5AB"/>
                </a:solidFill>
                <a:latin typeface="Fira Mono" pitchFamily="34" charset="0"/>
                <a:ea typeface="Fira Mono" pitchFamily="34" charset="-122"/>
                <a:cs typeface="Fira Mono" pitchFamily="34" charset="-120"/>
              </a:rPr>
              <a:t>// Or: dotnet add package System.CommandLine</a:t>
            </a:r>
            <a:endParaRPr lang="en-US" sz="13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use clap::Parser;</a:t>
            </a:r>
            <a:endParaRPr lang="en-US" sz="1200" dirty="0"/>
          </a:p>
          <a:p>
            <a:pPr marL="0" indent="0">
              <a:lnSpc>
                <a:spcPct val="105000"/>
              </a:lnSpc>
              <a:buNone/>
            </a:pP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#[derive(Parser)]</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struct Cli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name: String,</a:t>
            </a:r>
            <a:endParaRPr lang="en-US" sz="1200" dirty="0"/>
          </a:p>
          <a:p>
            <a:pPr marL="0" indent="0">
              <a:lnSpc>
                <a:spcPct val="105000"/>
              </a:lnSpc>
              <a:buNone/>
            </a:pPr>
            <a:r>
              <a:rPr lang="en-US" sz="1200" b="1" dirty="0">
                <a:solidFill>
                  <a:srgbClr val="FFC832"/>
                </a:solidFill>
                <a:latin typeface="Fira Mono" pitchFamily="34" charset="0"/>
                <a:ea typeface="Fira Mono" pitchFamily="34" charset="-122"/>
                <a:cs typeface="Fira Mono" pitchFamily="34" charset="-120"/>
              </a:rPr>
              <a:t>    #[arg(short, long)]</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excited: bool,</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a:p>
            <a:pPr marL="0" indent="0">
              <a:lnSpc>
                <a:spcPct val="105000"/>
              </a:lnSpc>
              <a:buNone/>
            </a:pP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fn main()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cli = Cli::parse();   // --help for free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let shout = cli.name.to_uppercase();</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if cli.excited { println!("HELLO, {shout}!");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    else { println!("Hello, {}.", cli.name); }</a:t>
            </a:r>
            <a:endParaRPr lang="en-US" sz="1200" dirty="0"/>
          </a:p>
          <a:p>
            <a:pPr marL="0" indent="0">
              <a:lnSpc>
                <a:spcPct val="105000"/>
              </a:lnSpc>
              <a:buNone/>
            </a:pPr>
            <a:r>
              <a:rPr lang="en-US" sz="1200" dirty="0">
                <a:solidFill>
                  <a:srgbClr val="F8F8F2"/>
                </a:solidFill>
                <a:latin typeface="Fira Mono" pitchFamily="34" charset="0"/>
                <a:ea typeface="Fira Mono" pitchFamily="34" charset="-122"/>
                <a:cs typeface="Fira Mono" pitchFamily="34" charset="-120"/>
              </a:rPr>
              <a:t>}</a:t>
            </a:r>
            <a:endParaRPr lang="en-US" sz="12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The struct is the CLI. Derive does the parsing, validation, and help text, which is what System.CommandLine gives you after a lot more ceremony.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Tests and shipping: familiar and fast</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TESTS AND PACKAGING</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41</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xUnit, in a separate test project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public class GreetTests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[Fact]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public void Greets_By_Name()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Assert.Equal("Hello, Woody.", Greet("Woody"));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dotnet publish -c Release -r linux-x64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--self-contained -p:PublishSingleFile=true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~70 MB with the runtime inside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Tests live next to the code they test</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#[cfg(test)]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mod tests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use super::*;</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#[test]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fn greets_by_name()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assert_eq!(greet("Woody"), "Hello, Woody.");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test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cargo build --release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one static binary, no runtime to install, ~1 MB</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Tests are built in, sit beside the code, and run with one command. The release build is a single small binary you can hand to anyone.</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Performance check: does Rust really fly?</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0B7261"/>
                </a:solidFill>
                <a:latin typeface="Fira Sans" pitchFamily="34" charset="0"/>
                <a:ea typeface="Fira Sans" pitchFamily="34" charset="-122"/>
                <a:cs typeface="Fira Sans" pitchFamily="34" charset="-120"/>
              </a:rPr>
              <a:t>WEEK 6 · BENCHMARK</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42</a:t>
            </a:r>
            <a:endParaRPr lang="en-US" sz="900" dirty="0"/>
          </a:p>
        </p:txBody>
      </p:sp>
      <p:sp>
        <p:nvSpPr>
          <p:cNvPr id="5" name="Shape 3"/>
          <p:cNvSpPr/>
          <p:nvPr/>
        </p:nvSpPr>
        <p:spPr>
          <a:xfrm>
            <a:off x="548640" y="1325880"/>
            <a:ext cx="5120640" cy="2514600"/>
          </a:xfrm>
          <a:prstGeom prst="roundRect">
            <a:avLst>
              <a:gd name="adj" fmla="val 3636"/>
            </a:avLst>
          </a:prstGeom>
          <a:solidFill>
            <a:srgbClr val="2B2B2B"/>
          </a:solidFill>
          <a:ln w="12700">
            <a:solidFill>
              <a:srgbClr val="2B2B2B"/>
            </a:solidFill>
            <a:prstDash val="solid"/>
          </a:ln>
        </p:spPr>
        <p:txBody>
          <a:bodyPr/>
          <a:lstStyle/>
          <a:p>
            <a:endParaRPr lang="en-US"/>
          </a:p>
        </p:txBody>
      </p:sp>
      <p:sp>
        <p:nvSpPr>
          <p:cNvPr id="6" name="Text 4"/>
          <p:cNvSpPr txBox="1"/>
          <p:nvPr/>
        </p:nvSpPr>
        <p:spPr>
          <a:xfrm>
            <a:off x="731520" y="1463040"/>
            <a:ext cx="4754880" cy="224028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Round one: sum 1..=100_000_000</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let sum: u64 = (1..=100_000_000).sum();</a:t>
            </a:r>
            <a:endParaRPr lang="en-US" sz="1100" dirty="0"/>
          </a:p>
          <a:p>
            <a:pPr marL="0" indent="0">
              <a:lnSpc>
                <a:spcPct val="105000"/>
              </a:lnSpc>
              <a:buNone/>
            </a:pP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C#:   301.6 ms</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Rust: 232 picoseconds</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That is not fast. That is the compiler</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folding the whole loop into a constant.</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 reader caught it in the comments.</a:t>
            </a:r>
            <a:endParaRPr lang="en-US" sz="1100" dirty="0"/>
          </a:p>
        </p:txBody>
      </p:sp>
      <p:sp>
        <p:nvSpPr>
          <p:cNvPr id="7" name="Shape 5"/>
          <p:cNvSpPr/>
          <p:nvPr/>
        </p:nvSpPr>
        <p:spPr>
          <a:xfrm>
            <a:off x="548640" y="3977640"/>
            <a:ext cx="5120640" cy="1783080"/>
          </a:xfrm>
          <a:prstGeom prst="roundRect">
            <a:avLst>
              <a:gd name="adj" fmla="val 5128"/>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4114800"/>
            <a:ext cx="4754880" cy="1508760"/>
          </a:xfrm>
          <a:prstGeom prst="rect">
            <a:avLst/>
          </a:prstGeom>
          <a:noFill/>
          <a:ln/>
        </p:spPr>
        <p:txBody>
          <a:bodyPr wrap="square" lIns="0" tIns="0" rIns="0" bIns="0" rtlCol="0" anchor="t"/>
          <a:lstStyle/>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Round two: N comes from the command line,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so nothing can be precomputed.</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Rust: ~14 ms      C#: ~36 ms</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Real work, real numbers, real gap.</a:t>
            </a:r>
            <a:endParaRPr lang="en-US" sz="1100" dirty="0"/>
          </a:p>
        </p:txBody>
      </p:sp>
      <p:graphicFrame>
        <p:nvGraphicFramePr>
          <p:cNvPr id="9" name="Chart 0"/>
          <p:cNvGraphicFramePr/>
          <p:nvPr/>
        </p:nvGraphicFramePr>
        <p:xfrm>
          <a:off x="6035040" y="1325880"/>
          <a:ext cx="5605272"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1" name="Text 8"/>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Rust wins on predictability: no JIT warm-up, no GC pause, full optimization ahead of time. C# is plenty fast for the business apps most of this room writes.</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005840"/>
            <a:ext cx="4206240" cy="2926080"/>
          </a:xfrm>
          <a:prstGeom prst="rect">
            <a:avLst/>
          </a:prstGeom>
          <a:noFill/>
          <a:ln/>
        </p:spPr>
        <p:txBody>
          <a:bodyPr wrap="square" lIns="0" tIns="0" rIns="0" bIns="0" rtlCol="0" anchor="ctr"/>
          <a:lstStyle/>
          <a:p>
            <a:pPr marL="0" indent="0">
              <a:buNone/>
            </a:pPr>
            <a:r>
              <a:rPr lang="en-US" sz="20000" dirty="0">
                <a:solidFill>
                  <a:srgbClr val="FFC832"/>
                </a:solidFill>
                <a:latin typeface="Alfa Slab One" pitchFamily="34" charset="0"/>
                <a:ea typeface="Alfa Slab One" pitchFamily="34" charset="-122"/>
                <a:cs typeface="Alfa Slab One" pitchFamily="34" charset="-120"/>
              </a:rPr>
              <a:t>47</a:t>
            </a:r>
            <a:endParaRPr lang="en-US" sz="20000" dirty="0"/>
          </a:p>
        </p:txBody>
      </p:sp>
      <p:sp>
        <p:nvSpPr>
          <p:cNvPr id="3" name="Text 1"/>
          <p:cNvSpPr txBox="1"/>
          <p:nvPr/>
        </p:nvSpPr>
        <p:spPr>
          <a:xfrm>
            <a:off x="640080" y="3840480"/>
            <a:ext cx="2743200" cy="365760"/>
          </a:xfrm>
          <a:prstGeom prst="rect">
            <a:avLst/>
          </a:prstGeom>
          <a:noFill/>
          <a:ln/>
        </p:spPr>
        <p:txBody>
          <a:bodyPr wrap="square" lIns="0" tIns="0" rIns="0" bIns="0" rtlCol="0" anchor="ctr"/>
          <a:lstStyle/>
          <a:p>
            <a:pPr marL="0" indent="0">
              <a:buNone/>
            </a:pPr>
            <a:r>
              <a:rPr lang="en-US" sz="1600" b="1" kern="0" spc="600" dirty="0">
                <a:solidFill>
                  <a:srgbClr val="FFFFFF"/>
                </a:solidFill>
                <a:latin typeface="Fira Sans" pitchFamily="34" charset="0"/>
                <a:ea typeface="Fira Sans" pitchFamily="34" charset="-122"/>
                <a:cs typeface="Fira Sans" pitchFamily="34" charset="-120"/>
              </a:rPr>
              <a:t>ROUTES</a:t>
            </a:r>
            <a:endParaRPr lang="en-US" sz="1600" dirty="0"/>
          </a:p>
        </p:txBody>
      </p:sp>
      <p:sp>
        <p:nvSpPr>
          <p:cNvPr id="4" name="Text 2"/>
          <p:cNvSpPr txBox="1"/>
          <p:nvPr/>
        </p:nvSpPr>
        <p:spPr>
          <a:xfrm>
            <a:off x="5029200" y="1737360"/>
            <a:ext cx="6611112" cy="1463040"/>
          </a:xfrm>
          <a:prstGeom prst="rect">
            <a:avLst/>
          </a:prstGeom>
          <a:noFill/>
          <a:ln/>
        </p:spPr>
        <p:txBody>
          <a:bodyPr wrap="square" lIns="0" tIns="0" rIns="0" bIns="0" rtlCol="0" anchor="b"/>
          <a:lstStyle/>
          <a:p>
            <a:pPr marL="0" indent="0">
              <a:buNone/>
            </a:pPr>
            <a:r>
              <a:rPr lang="en-US" sz="4000" dirty="0">
                <a:solidFill>
                  <a:srgbClr val="FFFFFF"/>
                </a:solidFill>
                <a:latin typeface="Alfa Slab One" pitchFamily="34" charset="0"/>
                <a:ea typeface="Alfa Slab One" pitchFamily="34" charset="-122"/>
                <a:cs typeface="Alfa Slab One" pitchFamily="34" charset="-120"/>
              </a:rPr>
              <a:t>Then I Ported Something Real</a:t>
            </a:r>
            <a:endParaRPr lang="en-US" sz="4000" dirty="0"/>
          </a:p>
        </p:txBody>
      </p:sp>
      <p:sp>
        <p:nvSpPr>
          <p:cNvPr id="5" name="Text 3"/>
          <p:cNvSpPr txBox="1"/>
          <p:nvPr/>
        </p:nvSpPr>
        <p:spPr>
          <a:xfrm>
            <a:off x="5029200" y="3337560"/>
            <a:ext cx="6611112" cy="1463040"/>
          </a:xfrm>
          <a:prstGeom prst="rect">
            <a:avLst/>
          </a:prstGeom>
          <a:noFill/>
          <a:ln/>
        </p:spPr>
        <p:txBody>
          <a:bodyPr wrap="square" lIns="0" tIns="0" rIns="0" bIns="0" rtlCol="0" anchor="t"/>
          <a:lstStyle/>
          <a:p>
            <a:pPr marL="0" indent="0">
              <a:buNone/>
            </a:pPr>
            <a:r>
              <a:rPr lang="en-US" sz="2000" dirty="0">
                <a:solidFill>
                  <a:srgbClr val="FFFFFF"/>
                </a:solidFill>
                <a:latin typeface="Fira Sans" pitchFamily="34" charset="0"/>
                <a:ea typeface="Fira Sans" pitchFamily="34" charset="-122"/>
                <a:cs typeface="Fira Sans" pitchFamily="34" charset="-120"/>
              </a:rPr>
              <a:t>The 42 days were exercises. The real test was taking a working ASP.NET Core Minimal API modular monolith and rebuilding it in Rust, route for route, with the same wire behavior.</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One solution, one workspace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STRUCTURE</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44</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ModularMonolith.Api.sln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src/ModularMonolith.Api          (host)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src/Shared/SharedKernel.Persistence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src/Shared/SharedKernel.DataSQLite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src/Modules/Identity/Identity.Module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src/Modules/Music/Music.Module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src/Modules/Orders/Orders.Module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src/Modules/Administration/Admin.Module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src/Modules/Reporting/Reporting.Module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tests/ModularMonolith.Architecture.Tests</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ArchUnitNET tests assert that no module</a:t>
            </a: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references another module.</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4023360"/>
          </a:xfrm>
          <a:prstGeom prst="roundRect">
            <a:avLst>
              <a:gd name="adj" fmla="val 2273"/>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7490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Cargo.toml                       (workspace)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crates/api                     (host)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crates/shared-kernel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crates/shared-persistence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crates/shared-data-sqlite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crates/module-identity</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crates/module-music</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crates/module-orders</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crates/module-admin</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crates/module-reporting</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crates/architecture-tests</a:t>
            </a:r>
            <a:endParaRPr lang="en-US" sz="1100" dirty="0"/>
          </a:p>
          <a:p>
            <a:pPr marL="0" indent="0">
              <a:lnSpc>
                <a:spcPct val="105000"/>
              </a:lnSpc>
              <a:buNone/>
            </a:pP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A module crate may depend only on shared-kernel</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and shared-persistence. Anything else: no build.</a:t>
            </a:r>
            <a:endParaRPr lang="en-US" sz="1100" dirty="0"/>
          </a:p>
        </p:txBody>
      </p:sp>
      <p:sp>
        <p:nvSpPr>
          <p:cNvPr id="13" name="Shape 11"/>
          <p:cNvSpPr/>
          <p:nvPr/>
        </p:nvSpPr>
        <p:spPr>
          <a:xfrm>
            <a:off x="548640" y="610819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98932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Each crate maps to one project. The dependency edges are the architecture rules, and cargo enforces what ArchUnitNET could only test after the fact.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The same endpoint, twice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ENDPOINTS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45</a:t>
            </a:r>
            <a:endParaRPr lang="en-US" sz="900" dirty="0"/>
          </a:p>
        </p:txBody>
      </p:sp>
      <p:sp>
        <p:nvSpPr>
          <p:cNvPr id="5" name="Shape 3"/>
          <p:cNvSpPr/>
          <p:nvPr/>
        </p:nvSpPr>
        <p:spPr>
          <a:xfrm>
            <a:off x="548640" y="1325880"/>
            <a:ext cx="822960" cy="310896"/>
          </a:xfrm>
          <a:prstGeom prst="roundRect">
            <a:avLst>
              <a:gd name="adj" fmla="val 23529"/>
            </a:avLst>
          </a:prstGeom>
          <a:solidFill>
            <a:srgbClr val="2E2459"/>
          </a:solidFill>
          <a:ln w="12700">
            <a:solidFill>
              <a:srgbClr val="2E2459"/>
            </a:solidFill>
            <a:prstDash val="solid"/>
          </a:ln>
        </p:spPr>
        <p:txBody>
          <a:bodyPr/>
          <a:lstStyle/>
          <a:p>
            <a:endParaRPr lang="en-US"/>
          </a:p>
        </p:txBody>
      </p:sp>
      <p:sp>
        <p:nvSpPr>
          <p:cNvPr id="6" name="Text 4"/>
          <p:cNvSpPr txBox="1"/>
          <p:nvPr/>
        </p:nvSpPr>
        <p:spPr>
          <a:xfrm>
            <a:off x="548640" y="13258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Fira Sans" pitchFamily="34" charset="0"/>
                <a:ea typeface="Fira Sans" pitchFamily="34" charset="-122"/>
                <a:cs typeface="Fira Sans" pitchFamily="34" charset="-120"/>
              </a:rPr>
              <a:t>C#</a:t>
            </a:r>
            <a:endParaRPr lang="en-US" sz="1200" dirty="0"/>
          </a:p>
        </p:txBody>
      </p:sp>
      <p:sp>
        <p:nvSpPr>
          <p:cNvPr id="7" name="Shape 5"/>
          <p:cNvSpPr/>
          <p:nvPr/>
        </p:nvSpPr>
        <p:spPr>
          <a:xfrm>
            <a:off x="548640"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8" name="Text 6"/>
          <p:cNvSpPr txBox="1"/>
          <p:nvPr/>
        </p:nvSpPr>
        <p:spPr>
          <a:xfrm>
            <a:off x="731520"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group.MapGet("/albums/{id:int}", [Authorize] async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int id,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IAlbumService service,      // from the container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CancellationToken ct) =&gt;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var album = await service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.GetAlbumByIdAsync(id, ct);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return album is not null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TypedResults.Ok(album)</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 Results.NotFound();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.RequireAuthorization("music.read")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.RequireAuthorization("tenant.scoped");</a:t>
            </a:r>
            <a:endParaRPr lang="en-US" sz="1100" dirty="0"/>
          </a:p>
        </p:txBody>
      </p:sp>
      <p:sp>
        <p:nvSpPr>
          <p:cNvPr id="9" name="Shape 7"/>
          <p:cNvSpPr/>
          <p:nvPr/>
        </p:nvSpPr>
        <p:spPr>
          <a:xfrm>
            <a:off x="6277356" y="1325880"/>
            <a:ext cx="822960" cy="310896"/>
          </a:xfrm>
          <a:prstGeom prst="roundRect">
            <a:avLst>
              <a:gd name="adj" fmla="val 23529"/>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6277356" y="1325880"/>
            <a:ext cx="822960" cy="310896"/>
          </a:xfrm>
          <a:prstGeom prst="rect">
            <a:avLst/>
          </a:prstGeom>
          <a:noFill/>
          <a:ln/>
        </p:spPr>
        <p:txBody>
          <a:bodyPr wrap="square" lIns="0" tIns="0" rIns="0" bIns="0" rtlCol="0" anchor="ctr"/>
          <a:lstStyle/>
          <a:p>
            <a:pPr marL="0" indent="0" algn="ctr">
              <a:buNone/>
            </a:pPr>
            <a:r>
              <a:rPr lang="en-US" sz="1200" b="1" dirty="0">
                <a:solidFill>
                  <a:srgbClr val="2A3439"/>
                </a:solidFill>
                <a:latin typeface="Fira Sans" pitchFamily="34" charset="0"/>
                <a:ea typeface="Fira Sans" pitchFamily="34" charset="-122"/>
                <a:cs typeface="Fira Sans" pitchFamily="34" charset="-120"/>
              </a:rPr>
              <a:t>Rust</a:t>
            </a:r>
            <a:endParaRPr lang="en-US" sz="1200" dirty="0"/>
          </a:p>
        </p:txBody>
      </p:sp>
      <p:sp>
        <p:nvSpPr>
          <p:cNvPr id="11" name="Shape 9"/>
          <p:cNvSpPr/>
          <p:nvPr/>
        </p:nvSpPr>
        <p:spPr>
          <a:xfrm>
            <a:off x="6277356" y="1737360"/>
            <a:ext cx="5362956" cy="3566160"/>
          </a:xfrm>
          <a:prstGeom prst="roundRect">
            <a:avLst>
              <a:gd name="adj" fmla="val 2564"/>
            </a:avLst>
          </a:prstGeom>
          <a:solidFill>
            <a:srgbClr val="2B2B2B"/>
          </a:solidFill>
          <a:ln w="12700">
            <a:solidFill>
              <a:srgbClr val="2B2B2B"/>
            </a:solidFill>
            <a:prstDash val="solid"/>
          </a:ln>
        </p:spPr>
        <p:txBody>
          <a:bodyPr/>
          <a:lstStyle/>
          <a:p>
            <a:endParaRPr lang="en-US"/>
          </a:p>
        </p:txBody>
      </p:sp>
      <p:sp>
        <p:nvSpPr>
          <p:cNvPr id="12" name="Text 10"/>
          <p:cNvSpPr txBox="1"/>
          <p:nvPr/>
        </p:nvSpPr>
        <p:spPr>
          <a:xfrm>
            <a:off x="6460236" y="1874520"/>
            <a:ext cx="4997196" cy="3291840"/>
          </a:xfrm>
          <a:prstGeom prst="rect">
            <a:avLst/>
          </a:prstGeom>
          <a:noFill/>
          <a:ln/>
        </p:spPr>
        <p:txBody>
          <a:bodyPr wrap="square" lIns="0" tIns="0" rIns="0" bIns="0" rtlCol="0" anchor="t"/>
          <a:lstStyle/>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async fn album_by_id(</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principal: Principal,          // an extractor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State(state): State&lt;AppState&gt;, // no container</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Path(id): Path&lt;i32&gt;,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-&gt; Response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if let Some(refusal) = refuse(&amp;principal) {</a:t>
            </a:r>
            <a:endParaRPr lang="en-US" sz="1100" dirty="0"/>
          </a:p>
          <a:p>
            <a:pPr marL="0" indent="0">
              <a:lnSpc>
                <a:spcPct val="105000"/>
              </a:lnSpc>
              <a:buNone/>
            </a:pPr>
            <a:r>
              <a:rPr lang="en-US" sz="1100" b="1" dirty="0">
                <a:solidFill>
                  <a:srgbClr val="FFC832"/>
                </a:solidFill>
                <a:latin typeface="Fira Mono" pitchFamily="34" charset="0"/>
                <a:ea typeface="Fira Mono" pitchFamily="34" charset="-122"/>
                <a:cs typeface="Fira Mono" pitchFamily="34" charset="-120"/>
              </a:rPr>
              <a:t>        return refusal;</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item_response(</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services::album_by_id(&amp;state, id).await,</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    )</a:t>
            </a:r>
            <a:endParaRPr lang="en-US" sz="1100" dirty="0"/>
          </a:p>
          <a:p>
            <a:pPr marL="0" indent="0">
              <a:lnSpc>
                <a:spcPct val="105000"/>
              </a:lnSpc>
              <a:buNone/>
            </a:pPr>
            <a:r>
              <a:rPr lang="en-US" sz="1100" dirty="0">
                <a:solidFill>
                  <a:srgbClr val="F8F8F2"/>
                </a:solidFill>
                <a:latin typeface="Fira Mono" pitchFamily="34" charset="0"/>
                <a:ea typeface="Fira Mono" pitchFamily="34" charset="-122"/>
                <a:cs typeface="Fira Mono" pitchFamily="34" charset="-120"/>
              </a:rPr>
              <a:t>}</a:t>
            </a:r>
            <a:endParaRPr lang="en-US" sz="1100" dirty="0"/>
          </a:p>
          <a:p>
            <a:pPr marL="0" indent="0">
              <a:lnSpc>
                <a:spcPct val="105000"/>
              </a:lnSpc>
              <a:buNone/>
            </a:pPr>
            <a:endParaRPr lang="en-US" sz="1100" dirty="0"/>
          </a:p>
          <a:p>
            <a:pPr marL="0" indent="0">
              <a:lnSpc>
                <a:spcPct val="105000"/>
              </a:lnSpc>
              <a:buNone/>
            </a:pPr>
            <a:r>
              <a:rPr lang="en-US" sz="1100" dirty="0">
                <a:solidFill>
                  <a:srgbClr val="9AA5AB"/>
                </a:solidFill>
                <a:latin typeface="Fira Mono" pitchFamily="34" charset="0"/>
                <a:ea typeface="Fira Mono" pitchFamily="34" charset="-122"/>
                <a:cs typeface="Fira Mono" pitchFamily="34" charset="-120"/>
              </a:rPr>
              <a:t>// .route("/albums/{id}", get(album_by_id))</a:t>
            </a:r>
            <a:endParaRPr lang="en-US" sz="1100" dirty="0"/>
          </a:p>
        </p:txBody>
      </p:sp>
      <p:sp>
        <p:nvSpPr>
          <p:cNvPr id="13" name="Shape 11"/>
          <p:cNvSpPr/>
          <p:nvPr/>
        </p:nvSpPr>
        <p:spPr>
          <a:xfrm>
            <a:off x="548640" y="5833872"/>
            <a:ext cx="201168" cy="201168"/>
          </a:xfrm>
          <a:prstGeom prst="ellipse">
            <a:avLst/>
          </a:prstGeom>
          <a:solidFill>
            <a:srgbClr val="FFC832"/>
          </a:solidFill>
          <a:ln w="12700">
            <a:solidFill>
              <a:srgbClr val="FFC832"/>
            </a:solidFill>
            <a:prstDash val="solid"/>
          </a:ln>
        </p:spPr>
        <p:txBody>
          <a:bodyPr/>
          <a:lstStyle/>
          <a:p>
            <a:endParaRPr lang="en-US"/>
          </a:p>
        </p:txBody>
      </p:sp>
      <p:sp>
        <p:nvSpPr>
          <p:cNvPr id="14" name="Text 12"/>
          <p:cNvSpPr txBox="1"/>
          <p:nvPr/>
        </p:nvSpPr>
        <p:spPr>
          <a:xfrm>
            <a:off x="914400" y="57150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Same shape, same behavior. The parts that vanished are the container, the reflection, and the string-named policy. The part I would still change is that yellow block.</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the port taught me</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THE PORT · LESSONS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46</a:t>
            </a:r>
            <a:endParaRPr lang="en-US" sz="900" dirty="0"/>
          </a:p>
        </p:txBody>
      </p:sp>
      <p:sp>
        <p:nvSpPr>
          <p:cNvPr id="5" name="Shape 3"/>
          <p:cNvSpPr/>
          <p:nvPr/>
        </p:nvSpPr>
        <p:spPr>
          <a:xfrm>
            <a:off x="548640"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731520"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47</a:t>
            </a:r>
            <a:endParaRPr lang="en-US" sz="4400" dirty="0"/>
          </a:p>
        </p:txBody>
      </p:sp>
      <p:sp>
        <p:nvSpPr>
          <p:cNvPr id="7" name="Text 5"/>
          <p:cNvSpPr txBox="1"/>
          <p:nvPr/>
        </p:nvSpPr>
        <p:spPr>
          <a:xfrm>
            <a:off x="731520"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routes, identical wire behavior</a:t>
            </a:r>
            <a:endParaRPr lang="en-US" sz="1200" dirty="0"/>
          </a:p>
        </p:txBody>
      </p:sp>
      <p:sp>
        <p:nvSpPr>
          <p:cNvPr id="8" name="Shape 6"/>
          <p:cNvSpPr/>
          <p:nvPr/>
        </p:nvSpPr>
        <p:spPr>
          <a:xfrm>
            <a:off x="3390138"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9" name="Text 7"/>
          <p:cNvSpPr txBox="1"/>
          <p:nvPr/>
        </p:nvSpPr>
        <p:spPr>
          <a:xfrm>
            <a:off x="3573018"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12</a:t>
            </a:r>
            <a:endParaRPr lang="en-US" sz="4400" dirty="0"/>
          </a:p>
        </p:txBody>
      </p:sp>
      <p:sp>
        <p:nvSpPr>
          <p:cNvPr id="10" name="Text 8"/>
          <p:cNvSpPr txBox="1"/>
          <p:nvPr/>
        </p:nvSpPr>
        <p:spPr>
          <a:xfrm>
            <a:off x="3573018"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crates, one per C# project</a:t>
            </a:r>
            <a:endParaRPr lang="en-US" sz="1200" dirty="0"/>
          </a:p>
        </p:txBody>
      </p:sp>
      <p:sp>
        <p:nvSpPr>
          <p:cNvPr id="11" name="Shape 9"/>
          <p:cNvSpPr/>
          <p:nvPr/>
        </p:nvSpPr>
        <p:spPr>
          <a:xfrm>
            <a:off x="6231636"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12" name="Text 10"/>
          <p:cNvSpPr txBox="1"/>
          <p:nvPr/>
        </p:nvSpPr>
        <p:spPr>
          <a:xfrm>
            <a:off x="6414516"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337</a:t>
            </a:r>
            <a:endParaRPr lang="en-US" sz="4400" dirty="0"/>
          </a:p>
        </p:txBody>
      </p:sp>
      <p:sp>
        <p:nvSpPr>
          <p:cNvPr id="13" name="Text 11"/>
          <p:cNvSpPr txBox="1"/>
          <p:nvPr/>
        </p:nvSpPr>
        <p:spPr>
          <a:xfrm>
            <a:off x="6414516"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tests, plus 98 parity cases against the running original</a:t>
            </a:r>
            <a:endParaRPr lang="en-US" sz="1200" dirty="0"/>
          </a:p>
        </p:txBody>
      </p:sp>
      <p:sp>
        <p:nvSpPr>
          <p:cNvPr id="14" name="Shape 12"/>
          <p:cNvSpPr/>
          <p:nvPr/>
        </p:nvSpPr>
        <p:spPr>
          <a:xfrm>
            <a:off x="9073134" y="1325880"/>
            <a:ext cx="2567178" cy="1600200"/>
          </a:xfrm>
          <a:prstGeom prst="roundRect">
            <a:avLst>
              <a:gd name="adj" fmla="val 6857"/>
            </a:avLst>
          </a:prstGeom>
          <a:solidFill>
            <a:srgbClr val="2A3439"/>
          </a:solidFill>
          <a:ln w="12700">
            <a:solidFill>
              <a:srgbClr val="2A3439"/>
            </a:solidFill>
            <a:prstDash val="solid"/>
          </a:ln>
        </p:spPr>
        <p:txBody>
          <a:bodyPr/>
          <a:lstStyle/>
          <a:p>
            <a:endParaRPr lang="en-US"/>
          </a:p>
        </p:txBody>
      </p:sp>
      <p:sp>
        <p:nvSpPr>
          <p:cNvPr id="15" name="Text 13"/>
          <p:cNvSpPr txBox="1"/>
          <p:nvPr/>
        </p:nvSpPr>
        <p:spPr>
          <a:xfrm>
            <a:off x="9256014" y="1371600"/>
            <a:ext cx="2201418" cy="868680"/>
          </a:xfrm>
          <a:prstGeom prst="rect">
            <a:avLst/>
          </a:prstGeom>
          <a:noFill/>
          <a:ln/>
        </p:spPr>
        <p:txBody>
          <a:bodyPr wrap="square" lIns="0" tIns="0" rIns="0" bIns="0" rtlCol="0" anchor="ctr"/>
          <a:lstStyle/>
          <a:p>
            <a:pPr marL="0" indent="0">
              <a:buNone/>
            </a:pPr>
            <a:r>
              <a:rPr lang="en-US" sz="4400" dirty="0">
                <a:solidFill>
                  <a:srgbClr val="FFC832"/>
                </a:solidFill>
                <a:latin typeface="Alfa Slab One" pitchFamily="34" charset="0"/>
                <a:ea typeface="Alfa Slab One" pitchFamily="34" charset="-122"/>
                <a:cs typeface="Alfa Slab One" pitchFamily="34" charset="-120"/>
              </a:rPr>
              <a:t>0</a:t>
            </a:r>
            <a:endParaRPr lang="en-US" sz="4400" dirty="0"/>
          </a:p>
        </p:txBody>
      </p:sp>
      <p:sp>
        <p:nvSpPr>
          <p:cNvPr id="16" name="Text 14"/>
          <p:cNvSpPr txBox="1"/>
          <p:nvPr/>
        </p:nvSpPr>
        <p:spPr>
          <a:xfrm>
            <a:off x="9256014" y="2240280"/>
            <a:ext cx="2201418" cy="640080"/>
          </a:xfrm>
          <a:prstGeom prst="rect">
            <a:avLst/>
          </a:prstGeom>
          <a:noFill/>
          <a:ln/>
        </p:spPr>
        <p:txBody>
          <a:bodyPr wrap="square" lIns="0" tIns="0" rIns="0" bIns="0" rtlCol="0" anchor="t"/>
          <a:lstStyle/>
          <a:p>
            <a:pPr marL="0" indent="0">
              <a:buNone/>
            </a:pPr>
            <a:r>
              <a:rPr lang="en-US" sz="1200" dirty="0">
                <a:solidFill>
                  <a:srgbClr val="E1E1E1"/>
                </a:solidFill>
                <a:latin typeface="Fira Sans" pitchFamily="34" charset="0"/>
                <a:ea typeface="Fira Sans" pitchFamily="34" charset="-122"/>
                <a:cs typeface="Fira Sans" pitchFamily="34" charset="-120"/>
              </a:rPr>
              <a:t>unwrap calls in production code</a:t>
            </a:r>
            <a:endParaRPr lang="en-US" sz="1200" dirty="0"/>
          </a:p>
        </p:txBody>
      </p:sp>
      <p:sp>
        <p:nvSpPr>
          <p:cNvPr id="17" name="Text 15"/>
          <p:cNvSpPr txBox="1"/>
          <p:nvPr/>
        </p:nvSpPr>
        <p:spPr>
          <a:xfrm>
            <a:off x="548640" y="3154680"/>
            <a:ext cx="11091672" cy="365760"/>
          </a:xfrm>
          <a:prstGeom prst="rect">
            <a:avLst/>
          </a:prstGeom>
          <a:noFill/>
          <a:ln/>
        </p:spPr>
        <p:txBody>
          <a:bodyPr wrap="square" lIns="0" tIns="0" rIns="0" bIns="0" rtlCol="0" anchor="ctr"/>
          <a:lstStyle/>
          <a:p>
            <a:pPr marL="0" indent="0">
              <a:buNone/>
            </a:pPr>
            <a:r>
              <a:rPr lang="en-US" sz="1200" b="1" kern="0" spc="200" dirty="0">
                <a:solidFill>
                  <a:srgbClr val="A72145"/>
                </a:solidFill>
                <a:latin typeface="Fira Sans" pitchFamily="34" charset="0"/>
                <a:ea typeface="Fira Sans" pitchFamily="34" charset="-122"/>
                <a:cs typeface="Fira Sans" pitchFamily="34" charset="-120"/>
              </a:rPr>
              <a:t>Where my C# brain leaked through, and what Rust wanted instead</a:t>
            </a:r>
            <a:endParaRPr lang="en-US" sz="1200" dirty="0"/>
          </a:p>
        </p:txBody>
      </p:sp>
      <p:sp>
        <p:nvSpPr>
          <p:cNvPr id="18" name="Shape 16"/>
          <p:cNvSpPr/>
          <p:nvPr/>
        </p:nvSpPr>
        <p:spPr>
          <a:xfrm>
            <a:off x="548640"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19" name="Shape 17"/>
          <p:cNvSpPr/>
          <p:nvPr/>
        </p:nvSpPr>
        <p:spPr>
          <a:xfrm>
            <a:off x="822960" y="3904488"/>
            <a:ext cx="237744" cy="237744"/>
          </a:xfrm>
          <a:prstGeom prst="ellipse">
            <a:avLst/>
          </a:prstGeom>
          <a:solidFill>
            <a:srgbClr val="A72145"/>
          </a:solidFill>
          <a:ln w="12700">
            <a:solidFill>
              <a:srgbClr val="A72145"/>
            </a:solidFill>
            <a:prstDash val="solid"/>
          </a:ln>
        </p:spPr>
        <p:txBody>
          <a:bodyPr/>
          <a:lstStyle/>
          <a:p>
            <a:endParaRPr lang="en-US"/>
          </a:p>
        </p:txBody>
      </p:sp>
      <p:sp>
        <p:nvSpPr>
          <p:cNvPr id="20" name="Text 18"/>
          <p:cNvSpPr txBox="1"/>
          <p:nvPr/>
        </p:nvSpPr>
        <p:spPr>
          <a:xfrm>
            <a:off x="1188720"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Authorization by hand</a:t>
            </a:r>
            <a:endParaRPr lang="en-US" sz="1600" dirty="0"/>
          </a:p>
        </p:txBody>
      </p:sp>
      <p:sp>
        <p:nvSpPr>
          <p:cNvPr id="21" name="Text 19"/>
          <p:cNvSpPr txBox="1"/>
          <p:nvPr/>
        </p:nvSpPr>
        <p:spPr>
          <a:xfrm>
            <a:off x="822960"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36 handlers each remember to call refuse(). Rust wants an Authorized&lt;Policy&gt; extractor so the requirement is in the signature and forgetting it does not compile.</a:t>
            </a:r>
            <a:endParaRPr lang="en-US" sz="1400" dirty="0"/>
          </a:p>
        </p:txBody>
      </p:sp>
      <p:sp>
        <p:nvSpPr>
          <p:cNvPr id="22" name="Shape 20"/>
          <p:cNvSpPr/>
          <p:nvPr/>
        </p:nvSpPr>
        <p:spPr>
          <a:xfrm>
            <a:off x="4337304"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23" name="Shape 21"/>
          <p:cNvSpPr/>
          <p:nvPr/>
        </p:nvSpPr>
        <p:spPr>
          <a:xfrm>
            <a:off x="4611624" y="3904488"/>
            <a:ext cx="237744" cy="237744"/>
          </a:xfrm>
          <a:prstGeom prst="ellipse">
            <a:avLst/>
          </a:prstGeom>
          <a:solidFill>
            <a:srgbClr val="2E2459"/>
          </a:solidFill>
          <a:ln w="12700">
            <a:solidFill>
              <a:srgbClr val="2E2459"/>
            </a:solidFill>
            <a:prstDash val="solid"/>
          </a:ln>
        </p:spPr>
        <p:txBody>
          <a:bodyPr/>
          <a:lstStyle/>
          <a:p>
            <a:endParaRPr lang="en-US"/>
          </a:p>
        </p:txBody>
      </p:sp>
      <p:sp>
        <p:nvSpPr>
          <p:cNvPr id="24" name="Text 22"/>
          <p:cNvSpPr txBox="1"/>
          <p:nvPr/>
        </p:nvSpPr>
        <p:spPr>
          <a:xfrm>
            <a:off x="4977384"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A DI container in a struct</a:t>
            </a:r>
            <a:endParaRPr lang="en-US" sz="1600" dirty="0"/>
          </a:p>
        </p:txBody>
      </p:sp>
      <p:sp>
        <p:nvSpPr>
          <p:cNvPr id="25" name="Text 23"/>
          <p:cNvSpPr txBox="1"/>
          <p:nvPr/>
        </p:nvSpPr>
        <p:spPr>
          <a:xfrm>
            <a:off x="4611624"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Ten Arc&lt;dyn Repository&gt; fields is a service collection wearing a trench coat. Generics over a Repositories trait remove the vtables.</a:t>
            </a:r>
            <a:endParaRPr lang="en-US" sz="1400" dirty="0"/>
          </a:p>
        </p:txBody>
      </p:sp>
      <p:sp>
        <p:nvSpPr>
          <p:cNvPr id="26" name="Shape 24"/>
          <p:cNvSpPr/>
          <p:nvPr/>
        </p:nvSpPr>
        <p:spPr>
          <a:xfrm>
            <a:off x="8125968" y="3611880"/>
            <a:ext cx="3514344" cy="2148840"/>
          </a:xfrm>
          <a:prstGeom prst="roundRect">
            <a:avLst>
              <a:gd name="adj" fmla="val 5106"/>
            </a:avLst>
          </a:prstGeom>
          <a:solidFill>
            <a:srgbClr val="F4F5F6"/>
          </a:solidFill>
          <a:ln w="12700">
            <a:solidFill>
              <a:srgbClr val="F4F5F6"/>
            </a:solidFill>
            <a:prstDash val="solid"/>
          </a:ln>
        </p:spPr>
        <p:txBody>
          <a:bodyPr/>
          <a:lstStyle/>
          <a:p>
            <a:endParaRPr lang="en-US"/>
          </a:p>
        </p:txBody>
      </p:sp>
      <p:sp>
        <p:nvSpPr>
          <p:cNvPr id="27" name="Shape 25"/>
          <p:cNvSpPr/>
          <p:nvPr/>
        </p:nvSpPr>
        <p:spPr>
          <a:xfrm>
            <a:off x="8400288" y="3904488"/>
            <a:ext cx="237744" cy="237744"/>
          </a:xfrm>
          <a:prstGeom prst="ellipse">
            <a:avLst/>
          </a:prstGeom>
          <a:solidFill>
            <a:srgbClr val="0B7261"/>
          </a:solidFill>
          <a:ln w="12700">
            <a:solidFill>
              <a:srgbClr val="0B7261"/>
            </a:solidFill>
            <a:prstDash val="solid"/>
          </a:ln>
        </p:spPr>
        <p:txBody>
          <a:bodyPr/>
          <a:lstStyle/>
          <a:p>
            <a:endParaRPr lang="en-US"/>
          </a:p>
        </p:txBody>
      </p:sp>
      <p:sp>
        <p:nvSpPr>
          <p:cNvPr id="28" name="Text 26"/>
          <p:cNvSpPr txBox="1"/>
          <p:nvPr/>
        </p:nvSpPr>
        <p:spPr>
          <a:xfrm>
            <a:off x="8766048" y="3794760"/>
            <a:ext cx="2691384" cy="457200"/>
          </a:xfrm>
          <a:prstGeom prst="rect">
            <a:avLst/>
          </a:prstGeom>
          <a:noFill/>
          <a:ln/>
        </p:spPr>
        <p:txBody>
          <a:bodyPr wrap="square" lIns="0" tIns="0" rIns="0" bIns="0" rtlCol="0" anchor="ctr"/>
          <a:lstStyle/>
          <a:p>
            <a:pPr marL="0" indent="0">
              <a:buNone/>
            </a:pPr>
            <a:r>
              <a:rPr lang="en-US" sz="1600" b="1" dirty="0">
                <a:solidFill>
                  <a:srgbClr val="2A3439"/>
                </a:solidFill>
                <a:latin typeface="Fira Sans" pitchFamily="34" charset="0"/>
                <a:ea typeface="Fira Sans" pitchFamily="34" charset="-122"/>
                <a:cs typeface="Fira Sans" pitchFamily="34" charset="-120"/>
              </a:rPr>
              <a:t>FluentValidation, reimplemented</a:t>
            </a:r>
            <a:endParaRPr lang="en-US" sz="1600" dirty="0"/>
          </a:p>
        </p:txBody>
      </p:sp>
      <p:sp>
        <p:nvSpPr>
          <p:cNvPr id="29" name="Text 27"/>
          <p:cNvSpPr txBox="1"/>
          <p:nvPr/>
        </p:nvSpPr>
        <p:spPr>
          <a:xfrm>
            <a:off x="8400288" y="4343400"/>
            <a:ext cx="2965704" cy="1234440"/>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900 lines of hand-rolled rules to match the messages. garde and validator already exist and treat Option the same way FluentValidation treats null.</a:t>
            </a:r>
            <a:endParaRPr lang="en-US" sz="1400" dirty="0"/>
          </a:p>
        </p:txBody>
      </p:sp>
      <p:sp>
        <p:nvSpPr>
          <p:cNvPr id="30" name="Shape 28"/>
          <p:cNvSpPr/>
          <p:nvPr/>
        </p:nvSpPr>
        <p:spPr>
          <a:xfrm>
            <a:off x="548640" y="6062472"/>
            <a:ext cx="201168" cy="201168"/>
          </a:xfrm>
          <a:prstGeom prst="ellipse">
            <a:avLst/>
          </a:prstGeom>
          <a:solidFill>
            <a:srgbClr val="FFC832"/>
          </a:solidFill>
          <a:ln w="12700">
            <a:solidFill>
              <a:srgbClr val="FFC832"/>
            </a:solidFill>
            <a:prstDash val="solid"/>
          </a:ln>
        </p:spPr>
        <p:txBody>
          <a:bodyPr/>
          <a:lstStyle/>
          <a:p>
            <a:endParaRPr lang="en-US"/>
          </a:p>
        </p:txBody>
      </p:sp>
      <p:sp>
        <p:nvSpPr>
          <p:cNvPr id="31" name="Text 29"/>
          <p:cNvSpPr txBox="1"/>
          <p:nvPr/>
        </p:nvSpPr>
        <p:spPr>
          <a:xfrm>
            <a:off x="914400" y="5943600"/>
            <a:ext cx="10725912" cy="457200"/>
          </a:xfrm>
          <a:prstGeom prst="rect">
            <a:avLst/>
          </a:prstGeom>
          <a:noFill/>
          <a:ln/>
        </p:spPr>
        <p:txBody>
          <a:bodyPr wrap="square" lIns="0" tIns="0" rIns="0" bIns="0" rtlCol="0" anchor="ctr"/>
          <a:lstStyle/>
          <a:p>
            <a:pPr marL="0" indent="0">
              <a:buNone/>
            </a:pPr>
            <a:r>
              <a:rPr lang="en-US" sz="1600" i="1" dirty="0">
                <a:solidFill>
                  <a:srgbClr val="2A3439"/>
                </a:solidFill>
                <a:latin typeface="Fira Sans" pitchFamily="34" charset="0"/>
                <a:ea typeface="Fira Sans" pitchFamily="34" charset="-122"/>
                <a:cs typeface="Fira Sans" pitchFamily="34" charset="-120"/>
              </a:rPr>
              <a:t>A faithful port is the first draft. The second draft is where you let the compiler take the jobs your middleware used to do.</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165592" cy="731520"/>
          </a:xfrm>
          <a:prstGeom prst="rect">
            <a:avLst/>
          </a:prstGeom>
          <a:noFill/>
          <a:ln/>
        </p:spPr>
        <p:txBody>
          <a:bodyPr wrap="square" lIns="0" tIns="0" rIns="0" bIns="0" rtlCol="0" anchor="ctr"/>
          <a:lstStyle/>
          <a:p>
            <a:pPr marL="0" indent="0">
              <a:buNone/>
            </a:pPr>
            <a:r>
              <a:rPr lang="en-US" sz="2800" dirty="0">
                <a:solidFill>
                  <a:srgbClr val="2A3439"/>
                </a:solidFill>
                <a:latin typeface="Alfa Slab One" pitchFamily="34" charset="0"/>
                <a:ea typeface="Alfa Slab One" pitchFamily="34" charset="-122"/>
                <a:cs typeface="Alfa Slab One" pitchFamily="34" charset="-120"/>
              </a:rPr>
              <a:t>What I brought back to C#</a:t>
            </a:r>
            <a:endParaRPr lang="en-US" sz="2800" dirty="0"/>
          </a:p>
        </p:txBody>
      </p:sp>
      <p:sp>
        <p:nvSpPr>
          <p:cNvPr id="3" name="Text 1"/>
          <p:cNvSpPr txBox="1"/>
          <p:nvPr/>
        </p:nvSpPr>
        <p:spPr>
          <a:xfrm>
            <a:off x="8714232" y="347472"/>
            <a:ext cx="2926080" cy="731520"/>
          </a:xfrm>
          <a:prstGeom prst="rect">
            <a:avLst/>
          </a:prstGeom>
          <a:noFill/>
          <a:ln/>
        </p:spPr>
        <p:txBody>
          <a:bodyPr wrap="square" lIns="0" tIns="0" rIns="0" bIns="0" rtlCol="0" anchor="ctr"/>
          <a:lstStyle/>
          <a:p>
            <a:pPr marL="0" indent="0" algn="r">
              <a:buNone/>
            </a:pPr>
            <a:r>
              <a:rPr lang="en-US" sz="1100" b="1" kern="0" spc="200" dirty="0">
                <a:solidFill>
                  <a:srgbClr val="2A3439"/>
                </a:solidFill>
                <a:latin typeface="Fira Sans" pitchFamily="34" charset="0"/>
                <a:ea typeface="Fira Sans" pitchFamily="34" charset="-122"/>
                <a:cs typeface="Fira Sans" pitchFamily="34" charset="-120"/>
              </a:rPr>
              <a:t>FINAL REFLECTIONS</a:t>
            </a:r>
            <a:endParaRPr lang="en-US" sz="11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900" dirty="0">
                <a:solidFill>
                  <a:srgbClr val="9AA5AB"/>
                </a:solidFill>
                <a:latin typeface="Fira Sans" pitchFamily="34" charset="0"/>
                <a:ea typeface="Fira Sans" pitchFamily="34" charset="-122"/>
                <a:cs typeface="Fira Sans" pitchFamily="34" charset="-120"/>
              </a:rPr>
              <a:t>47</a:t>
            </a:r>
            <a:endParaRPr lang="en-US" sz="900" dirty="0"/>
          </a:p>
        </p:txBody>
      </p:sp>
      <p:sp>
        <p:nvSpPr>
          <p:cNvPr id="5" name="Shape 3"/>
          <p:cNvSpPr/>
          <p:nvPr/>
        </p:nvSpPr>
        <p:spPr>
          <a:xfrm>
            <a:off x="548640" y="1435608"/>
            <a:ext cx="566928" cy="566928"/>
          </a:xfrm>
          <a:prstGeom prst="ellipse">
            <a:avLst/>
          </a:prstGeom>
          <a:solidFill>
            <a:srgbClr val="2A3439"/>
          </a:solidFill>
          <a:ln w="12700">
            <a:solidFill>
              <a:srgbClr val="2A3439"/>
            </a:solidFill>
            <a:prstDash val="solid"/>
          </a:ln>
        </p:spPr>
        <p:txBody>
          <a:bodyPr/>
          <a:lstStyle/>
          <a:p>
            <a:endParaRPr lang="en-US"/>
          </a:p>
        </p:txBody>
      </p:sp>
      <p:sp>
        <p:nvSpPr>
          <p:cNvPr id="6" name="Text 4"/>
          <p:cNvSpPr txBox="1"/>
          <p:nvPr/>
        </p:nvSpPr>
        <p:spPr>
          <a:xfrm>
            <a:off x="548640" y="1435608"/>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1</a:t>
            </a:r>
            <a:endParaRPr lang="en-US" sz="2000" dirty="0"/>
          </a:p>
        </p:txBody>
      </p:sp>
      <p:sp>
        <p:nvSpPr>
          <p:cNvPr id="7" name="Text 5"/>
          <p:cNvSpPr txBox="1"/>
          <p:nvPr/>
        </p:nvSpPr>
        <p:spPr>
          <a:xfrm>
            <a:off x="1371600" y="1325880"/>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Be deliberate about mutability</a:t>
            </a:r>
            <a:endParaRPr lang="en-US" sz="1800" dirty="0"/>
          </a:p>
        </p:txBody>
      </p:sp>
      <p:sp>
        <p:nvSpPr>
          <p:cNvPr id="8" name="Text 6"/>
          <p:cNvSpPr txBox="1"/>
          <p:nvPr/>
        </p:nvSpPr>
        <p:spPr>
          <a:xfrm>
            <a:off x="1371600" y="1728216"/>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readonly, init, and records by default. mut is a decision, not a default.</a:t>
            </a:r>
            <a:endParaRPr lang="en-US" sz="1400" dirty="0"/>
          </a:p>
        </p:txBody>
      </p:sp>
      <p:sp>
        <p:nvSpPr>
          <p:cNvPr id="9" name="Shape 7"/>
          <p:cNvSpPr/>
          <p:nvPr/>
        </p:nvSpPr>
        <p:spPr>
          <a:xfrm>
            <a:off x="548640" y="2368296"/>
            <a:ext cx="566928" cy="566928"/>
          </a:xfrm>
          <a:prstGeom prst="ellipse">
            <a:avLst/>
          </a:prstGeom>
          <a:solidFill>
            <a:srgbClr val="FFC832"/>
          </a:solidFill>
          <a:ln w="12700">
            <a:solidFill>
              <a:srgbClr val="FFC832"/>
            </a:solidFill>
            <a:prstDash val="solid"/>
          </a:ln>
        </p:spPr>
        <p:txBody>
          <a:bodyPr/>
          <a:lstStyle/>
          <a:p>
            <a:endParaRPr lang="en-US"/>
          </a:p>
        </p:txBody>
      </p:sp>
      <p:sp>
        <p:nvSpPr>
          <p:cNvPr id="10" name="Text 8"/>
          <p:cNvSpPr txBox="1"/>
          <p:nvPr/>
        </p:nvSpPr>
        <p:spPr>
          <a:xfrm>
            <a:off x="548640" y="2368296"/>
            <a:ext cx="566928" cy="566928"/>
          </a:xfrm>
          <a:prstGeom prst="rect">
            <a:avLst/>
          </a:prstGeom>
          <a:noFill/>
          <a:ln/>
        </p:spPr>
        <p:txBody>
          <a:bodyPr wrap="square" lIns="0" tIns="0" rIns="0" bIns="0" rtlCol="0" anchor="ctr"/>
          <a:lstStyle/>
          <a:p>
            <a:pPr marL="0" indent="0" algn="ctr">
              <a:buNone/>
            </a:pPr>
            <a:r>
              <a:rPr lang="en-US" sz="2000" dirty="0">
                <a:solidFill>
                  <a:srgbClr val="2A3439"/>
                </a:solidFill>
                <a:latin typeface="Alfa Slab One" pitchFamily="34" charset="0"/>
                <a:ea typeface="Alfa Slab One" pitchFamily="34" charset="-122"/>
                <a:cs typeface="Alfa Slab One" pitchFamily="34" charset="-120"/>
              </a:rPr>
              <a:t>2</a:t>
            </a:r>
            <a:endParaRPr lang="en-US" sz="2000" dirty="0"/>
          </a:p>
        </p:txBody>
      </p:sp>
      <p:sp>
        <p:nvSpPr>
          <p:cNvPr id="11" name="Text 9"/>
          <p:cNvSpPr txBox="1"/>
          <p:nvPr/>
        </p:nvSpPr>
        <p:spPr>
          <a:xfrm>
            <a:off x="1371600" y="2258568"/>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Ask who owns this value</a:t>
            </a:r>
            <a:endParaRPr lang="en-US" sz="1800" dirty="0"/>
          </a:p>
        </p:txBody>
      </p:sp>
      <p:sp>
        <p:nvSpPr>
          <p:cNvPr id="12" name="Text 10"/>
          <p:cNvSpPr txBox="1"/>
          <p:nvPr/>
        </p:nvSpPr>
        <p:spPr>
          <a:xfrm>
            <a:off x="1371600" y="2660904"/>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Even with the GC. Span&lt;T&gt;, ref readonly, and fewer shared mutable collections.</a:t>
            </a:r>
            <a:endParaRPr lang="en-US" sz="1400" dirty="0"/>
          </a:p>
        </p:txBody>
      </p:sp>
      <p:sp>
        <p:nvSpPr>
          <p:cNvPr id="13" name="Shape 11"/>
          <p:cNvSpPr/>
          <p:nvPr/>
        </p:nvSpPr>
        <p:spPr>
          <a:xfrm>
            <a:off x="548640" y="3300984"/>
            <a:ext cx="566928" cy="566928"/>
          </a:xfrm>
          <a:prstGeom prst="ellipse">
            <a:avLst/>
          </a:prstGeom>
          <a:solidFill>
            <a:srgbClr val="2A3439"/>
          </a:solidFill>
          <a:ln w="12700">
            <a:solidFill>
              <a:srgbClr val="2A3439"/>
            </a:solidFill>
            <a:prstDash val="solid"/>
          </a:ln>
        </p:spPr>
        <p:txBody>
          <a:bodyPr/>
          <a:lstStyle/>
          <a:p>
            <a:endParaRPr lang="en-US"/>
          </a:p>
        </p:txBody>
      </p:sp>
      <p:sp>
        <p:nvSpPr>
          <p:cNvPr id="14" name="Text 12"/>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3</a:t>
            </a:r>
            <a:endParaRPr lang="en-US" sz="2000" dirty="0"/>
          </a:p>
        </p:txBody>
      </p:sp>
      <p:sp>
        <p:nvSpPr>
          <p:cNvPr id="15" name="Text 13"/>
          <p:cNvSpPr txBox="1"/>
          <p:nvPr/>
        </p:nvSpPr>
        <p:spPr>
          <a:xfrm>
            <a:off x="1371600" y="3191256"/>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Enums and patterns before class trees</a:t>
            </a:r>
            <a:endParaRPr lang="en-US" sz="1800" dirty="0"/>
          </a:p>
        </p:txBody>
      </p:sp>
      <p:sp>
        <p:nvSpPr>
          <p:cNvPr id="16" name="Text 14"/>
          <p:cNvSpPr txBox="1"/>
          <p:nvPr/>
        </p:nvSpPr>
        <p:spPr>
          <a:xfrm>
            <a:off x="1371600" y="3593592"/>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Sealed record hierarchies and switch expressions. Model states as types.</a:t>
            </a:r>
            <a:endParaRPr lang="en-US" sz="1400" dirty="0"/>
          </a:p>
        </p:txBody>
      </p:sp>
      <p:sp>
        <p:nvSpPr>
          <p:cNvPr id="17" name="Shape 15"/>
          <p:cNvSpPr/>
          <p:nvPr/>
        </p:nvSpPr>
        <p:spPr>
          <a:xfrm>
            <a:off x="548640" y="4233672"/>
            <a:ext cx="566928" cy="566928"/>
          </a:xfrm>
          <a:prstGeom prst="ellipse">
            <a:avLst/>
          </a:prstGeom>
          <a:solidFill>
            <a:srgbClr val="FFC832"/>
          </a:solidFill>
          <a:ln w="12700">
            <a:solidFill>
              <a:srgbClr val="FFC832"/>
            </a:solidFill>
            <a:prstDash val="solid"/>
          </a:ln>
        </p:spPr>
        <p:txBody>
          <a:bodyPr/>
          <a:lstStyle/>
          <a:p>
            <a:endParaRPr lang="en-US"/>
          </a:p>
        </p:txBody>
      </p:sp>
      <p:sp>
        <p:nvSpPr>
          <p:cNvPr id="18" name="Text 16"/>
          <p:cNvSpPr txBox="1"/>
          <p:nvPr/>
        </p:nvSpPr>
        <p:spPr>
          <a:xfrm>
            <a:off x="548640" y="4233672"/>
            <a:ext cx="566928" cy="566928"/>
          </a:xfrm>
          <a:prstGeom prst="rect">
            <a:avLst/>
          </a:prstGeom>
          <a:noFill/>
          <a:ln/>
        </p:spPr>
        <p:txBody>
          <a:bodyPr wrap="square" lIns="0" tIns="0" rIns="0" bIns="0" rtlCol="0" anchor="ctr"/>
          <a:lstStyle/>
          <a:p>
            <a:pPr marL="0" indent="0" algn="ctr">
              <a:buNone/>
            </a:pPr>
            <a:r>
              <a:rPr lang="en-US" sz="2000" dirty="0">
                <a:solidFill>
                  <a:srgbClr val="2A3439"/>
                </a:solidFill>
                <a:latin typeface="Alfa Slab One" pitchFamily="34" charset="0"/>
                <a:ea typeface="Alfa Slab One" pitchFamily="34" charset="-122"/>
                <a:cs typeface="Alfa Slab One" pitchFamily="34" charset="-120"/>
              </a:rPr>
              <a:t>4</a:t>
            </a:r>
            <a:endParaRPr lang="en-US" sz="2000" dirty="0"/>
          </a:p>
        </p:txBody>
      </p:sp>
      <p:sp>
        <p:nvSpPr>
          <p:cNvPr id="19" name="Text 17"/>
          <p:cNvSpPr txBox="1"/>
          <p:nvPr/>
        </p:nvSpPr>
        <p:spPr>
          <a:xfrm>
            <a:off x="1371600" y="4123944"/>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Use exceptions on purpose</a:t>
            </a:r>
            <a:endParaRPr lang="en-US" sz="1800" dirty="0"/>
          </a:p>
        </p:txBody>
      </p:sp>
      <p:sp>
        <p:nvSpPr>
          <p:cNvPr id="20" name="Text 18"/>
          <p:cNvSpPr txBox="1"/>
          <p:nvPr/>
        </p:nvSpPr>
        <p:spPr>
          <a:xfrm>
            <a:off x="1371600" y="4526280"/>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Return types for expected failure, exceptions for the impossible.</a:t>
            </a:r>
            <a:endParaRPr lang="en-US" sz="1400" dirty="0"/>
          </a:p>
        </p:txBody>
      </p:sp>
      <p:sp>
        <p:nvSpPr>
          <p:cNvPr id="21" name="Shape 19"/>
          <p:cNvSpPr/>
          <p:nvPr/>
        </p:nvSpPr>
        <p:spPr>
          <a:xfrm>
            <a:off x="548640" y="5166360"/>
            <a:ext cx="566928" cy="566928"/>
          </a:xfrm>
          <a:prstGeom prst="ellipse">
            <a:avLst/>
          </a:prstGeom>
          <a:solidFill>
            <a:srgbClr val="2A3439"/>
          </a:solidFill>
          <a:ln w="12700">
            <a:solidFill>
              <a:srgbClr val="2A3439"/>
            </a:solidFill>
            <a:prstDash val="solid"/>
          </a:ln>
        </p:spPr>
        <p:txBody>
          <a:bodyPr/>
          <a:lstStyle/>
          <a:p>
            <a:endParaRPr lang="en-US"/>
          </a:p>
        </p:txBody>
      </p:sp>
      <p:sp>
        <p:nvSpPr>
          <p:cNvPr id="22" name="Text 20"/>
          <p:cNvSpPr txBox="1"/>
          <p:nvPr/>
        </p:nvSpPr>
        <p:spPr>
          <a:xfrm>
            <a:off x="548640" y="5166360"/>
            <a:ext cx="566928" cy="566928"/>
          </a:xfrm>
          <a:prstGeom prst="rect">
            <a:avLst/>
          </a:prstGeom>
          <a:noFill/>
          <a:ln/>
        </p:spPr>
        <p:txBody>
          <a:bodyPr wrap="square" lIns="0" tIns="0" rIns="0" bIns="0" rtlCol="0" anchor="ctr"/>
          <a:lstStyle/>
          <a:p>
            <a:pPr marL="0" indent="0" algn="ctr">
              <a:buNone/>
            </a:pPr>
            <a:r>
              <a:rPr lang="en-US" sz="2000" dirty="0">
                <a:solidFill>
                  <a:srgbClr val="FFC832"/>
                </a:solidFill>
                <a:latin typeface="Alfa Slab One" pitchFamily="34" charset="0"/>
                <a:ea typeface="Alfa Slab One" pitchFamily="34" charset="-122"/>
                <a:cs typeface="Alfa Slab One" pitchFamily="34" charset="-120"/>
              </a:rPr>
              <a:t>5</a:t>
            </a:r>
            <a:endParaRPr lang="en-US" sz="2000" dirty="0"/>
          </a:p>
        </p:txBody>
      </p:sp>
      <p:sp>
        <p:nvSpPr>
          <p:cNvPr id="23" name="Text 21"/>
          <p:cNvSpPr txBox="1"/>
          <p:nvPr/>
        </p:nvSpPr>
        <p:spPr>
          <a:xfrm>
            <a:off x="1371600" y="5056632"/>
            <a:ext cx="10268712" cy="384048"/>
          </a:xfrm>
          <a:prstGeom prst="rect">
            <a:avLst/>
          </a:prstGeom>
          <a:noFill/>
          <a:ln/>
        </p:spPr>
        <p:txBody>
          <a:bodyPr wrap="square" lIns="0" tIns="0" rIns="0" bIns="0" rtlCol="0" anchor="b"/>
          <a:lstStyle/>
          <a:p>
            <a:pPr marL="0" indent="0">
              <a:buNone/>
            </a:pPr>
            <a:r>
              <a:rPr lang="en-US" sz="1800" b="1" dirty="0">
                <a:solidFill>
                  <a:srgbClr val="2A3439"/>
                </a:solidFill>
                <a:latin typeface="Fira Sans" pitchFamily="34" charset="0"/>
                <a:ea typeface="Fira Sans" pitchFamily="34" charset="-122"/>
                <a:cs typeface="Fira Sans" pitchFamily="34" charset="-120"/>
              </a:rPr>
              <a:t>Write the tests beside the code</a:t>
            </a:r>
            <a:endParaRPr lang="en-US" sz="1800" dirty="0"/>
          </a:p>
        </p:txBody>
      </p:sp>
      <p:sp>
        <p:nvSpPr>
          <p:cNvPr id="24" name="Text 22"/>
          <p:cNvSpPr txBox="1"/>
          <p:nvPr/>
        </p:nvSpPr>
        <p:spPr>
          <a:xfrm>
            <a:off x="1371600" y="5458968"/>
            <a:ext cx="10268712" cy="384048"/>
          </a:xfrm>
          <a:prstGeom prst="rect">
            <a:avLst/>
          </a:prstGeom>
          <a:noFill/>
          <a:ln/>
        </p:spPr>
        <p:txBody>
          <a:bodyPr wrap="square" lIns="0" tIns="0" rIns="0" bIns="0" rtlCol="0" anchor="t"/>
          <a:lstStyle/>
          <a:p>
            <a:pPr marL="0" indent="0">
              <a:buNone/>
            </a:pPr>
            <a:r>
              <a:rPr lang="en-US" sz="1400" dirty="0">
                <a:solidFill>
                  <a:srgbClr val="3C3C3C"/>
                </a:solidFill>
                <a:latin typeface="Fira Sans" pitchFamily="34" charset="0"/>
                <a:ea typeface="Fira Sans" pitchFamily="34" charset="-122"/>
                <a:cs typeface="Fira Sans" pitchFamily="34" charset="-120"/>
              </a:rPr>
              <a:t>Not as an afterthought. cargo test made it a habit; dotnet test keeps it.</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8">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1554480"/>
            <a:ext cx="11091672" cy="1463040"/>
          </a:xfrm>
          <a:prstGeom prst="rect">
            <a:avLst/>
          </a:prstGeom>
          <a:noFill/>
          <a:ln/>
        </p:spPr>
        <p:txBody>
          <a:bodyPr wrap="square" lIns="0" tIns="0" rIns="0" bIns="0" rtlCol="0" anchor="b"/>
          <a:lstStyle/>
          <a:p>
            <a:pPr marL="0" indent="0">
              <a:buNone/>
            </a:pPr>
            <a:r>
              <a:rPr lang="en-US" sz="3600" dirty="0">
                <a:solidFill>
                  <a:srgbClr val="FFFFFF"/>
                </a:solidFill>
                <a:latin typeface="Alfa Slab One" pitchFamily="34" charset="0"/>
                <a:ea typeface="Alfa Slab One" pitchFamily="34" charset="-122"/>
                <a:cs typeface="Alfa Slab One" pitchFamily="34" charset="-120"/>
              </a:rPr>
              <a:t>Learning Rust did not make me want to leave C#.</a:t>
            </a:r>
            <a:endParaRPr lang="en-US" sz="3600" dirty="0"/>
          </a:p>
        </p:txBody>
      </p:sp>
      <p:sp>
        <p:nvSpPr>
          <p:cNvPr id="3" name="Text 1"/>
          <p:cNvSpPr txBox="1"/>
          <p:nvPr/>
        </p:nvSpPr>
        <p:spPr>
          <a:xfrm>
            <a:off x="548640" y="3108960"/>
            <a:ext cx="11091672" cy="1280160"/>
          </a:xfrm>
          <a:prstGeom prst="rect">
            <a:avLst/>
          </a:prstGeom>
          <a:noFill/>
          <a:ln/>
        </p:spPr>
        <p:txBody>
          <a:bodyPr wrap="square" lIns="0" tIns="0" rIns="0" bIns="0" rtlCol="0" anchor="t"/>
          <a:lstStyle/>
          <a:p>
            <a:pPr marL="0" indent="0">
              <a:buNone/>
            </a:pPr>
            <a:r>
              <a:rPr lang="en-US" sz="5400" dirty="0">
                <a:solidFill>
                  <a:srgbClr val="FFC832"/>
                </a:solidFill>
                <a:latin typeface="Alfa Slab One" pitchFamily="34" charset="0"/>
                <a:ea typeface="Alfa Slab One" pitchFamily="34" charset="-122"/>
                <a:cs typeface="Alfa Slab One" pitchFamily="34" charset="-120"/>
              </a:rPr>
              <a:t>It made me better at it.</a:t>
            </a:r>
            <a:endParaRPr lang="en-US" sz="5400" dirty="0"/>
          </a:p>
        </p:txBody>
      </p:sp>
      <p:sp>
        <p:nvSpPr>
          <p:cNvPr id="4" name="Text 2"/>
          <p:cNvSpPr txBox="1"/>
          <p:nvPr/>
        </p:nvSpPr>
        <p:spPr>
          <a:xfrm>
            <a:off x="548640" y="4846320"/>
            <a:ext cx="11091672" cy="548640"/>
          </a:xfrm>
          <a:prstGeom prst="rect">
            <a:avLst/>
          </a:prstGeom>
          <a:noFill/>
          <a:ln/>
        </p:spPr>
        <p:txBody>
          <a:bodyPr wrap="square" lIns="0" tIns="0" rIns="0" bIns="0" rtlCol="0" anchor="ctr"/>
          <a:lstStyle/>
          <a:p>
            <a:pPr marL="0" indent="0">
              <a:buNone/>
            </a:pPr>
            <a:r>
              <a:rPr lang="en-US" sz="2000" i="1" dirty="0">
                <a:solidFill>
                  <a:srgbClr val="E1E1E1"/>
                </a:solidFill>
                <a:latin typeface="Fira Sans" pitchFamily="34" charset="0"/>
                <a:ea typeface="Fira Sans" pitchFamily="34" charset="-122"/>
                <a:cs typeface="Fira Sans" pitchFamily="34" charset="-120"/>
              </a:rPr>
              <a:t>Every language you learn is a lens on the one you already use.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bg>
      <p:bgPr>
        <a:solidFill>
          <a:srgbClr val="2A3439"/>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1091672" cy="1005840"/>
          </a:xfrm>
          <a:prstGeom prst="rect">
            <a:avLst/>
          </a:prstGeom>
          <a:noFill/>
          <a:ln/>
        </p:spPr>
        <p:txBody>
          <a:bodyPr wrap="square" lIns="0" tIns="0" rIns="0" bIns="0" rtlCol="0" anchor="ctr"/>
          <a:lstStyle/>
          <a:p>
            <a:pPr marL="0" indent="0">
              <a:buNone/>
            </a:pPr>
            <a:r>
              <a:rPr lang="en-US" sz="4000" dirty="0">
                <a:solidFill>
                  <a:srgbClr val="FFC832"/>
                </a:solidFill>
                <a:latin typeface="Alfa Slab One" pitchFamily="34" charset="0"/>
                <a:ea typeface="Alfa Slab One" pitchFamily="34" charset="-122"/>
                <a:cs typeface="Alfa Slab One" pitchFamily="34" charset="-120"/>
              </a:rPr>
              <a:t>Thank you. Questions?</a:t>
            </a:r>
            <a:endParaRPr lang="en-US" sz="4000" dirty="0"/>
          </a:p>
        </p:txBody>
      </p:sp>
      <p:sp>
        <p:nvSpPr>
          <p:cNvPr id="3" name="Text 1"/>
          <p:cNvSpPr txBox="1"/>
          <p:nvPr/>
        </p:nvSpPr>
        <p:spPr>
          <a:xfrm>
            <a:off x="548640" y="1920240"/>
            <a:ext cx="5362956" cy="365760"/>
          </a:xfrm>
          <a:prstGeom prst="rect">
            <a:avLst/>
          </a:prstGeom>
          <a:noFill/>
          <a:ln/>
        </p:spPr>
        <p:txBody>
          <a:bodyPr wrap="square" lIns="0" tIns="0" rIns="0" bIns="0" rtlCol="0" anchor="ctr"/>
          <a:lstStyle/>
          <a:p>
            <a:pPr marL="0" indent="0">
              <a:buNone/>
            </a:pPr>
            <a:r>
              <a:rPr lang="en-US" sz="1200" b="1" kern="0" spc="200" dirty="0">
                <a:solidFill>
                  <a:srgbClr val="FFC832"/>
                </a:solidFill>
                <a:latin typeface="Fira Sans" pitchFamily="34" charset="0"/>
                <a:ea typeface="Fira Sans" pitchFamily="34" charset="-122"/>
                <a:cs typeface="Fira Sans" pitchFamily="34" charset="-120"/>
              </a:rPr>
              <a:t>The series and the code</a:t>
            </a:r>
            <a:endParaRPr lang="en-US" sz="1200" dirty="0"/>
          </a:p>
        </p:txBody>
      </p:sp>
      <p:sp>
        <p:nvSpPr>
          <p:cNvPr id="4" name="Text 2"/>
          <p:cNvSpPr txBox="1"/>
          <p:nvPr/>
        </p:nvSpPr>
        <p:spPr>
          <a:xfrm>
            <a:off x="548640" y="2331720"/>
            <a:ext cx="5362956" cy="3474720"/>
          </a:xfrm>
          <a:prstGeom prst="rect">
            <a:avLst/>
          </a:prstGeom>
          <a:noFill/>
          <a:ln/>
        </p:spPr>
        <p:txBody>
          <a:bodyPr wrap="square" lIns="0" tIns="0" rIns="0" bIns="0" rtlCol="0" anchor="t"/>
          <a:lstStyle/>
          <a:p>
            <a:pPr marL="0" indent="0">
              <a:buNone/>
            </a:pPr>
            <a:r>
              <a:rPr lang="en-US" sz="1400" b="1" dirty="0">
                <a:solidFill>
                  <a:srgbClr val="FFFFFF"/>
                </a:solidFill>
                <a:latin typeface="Fira Sans" pitchFamily="34" charset="0"/>
                <a:ea typeface="Fira Sans" pitchFamily="34" charset="-122"/>
                <a:cs typeface="Fira Sans" pitchFamily="34" charset="-120"/>
              </a:rPr>
              <a:t>42 days of posts, one per topic</a:t>
            </a:r>
            <a:endParaRPr lang="en-US" sz="1400" dirty="0"/>
          </a:p>
          <a:p>
            <a:pPr marL="0" indent="0">
              <a:spcAft>
                <a:spcPts val="1200"/>
              </a:spcAft>
              <a:buNone/>
            </a:pPr>
            <a:r>
              <a:rPr lang="en-US" sz="1400" dirty="0">
                <a:solidFill>
                  <a:srgbClr val="FFFFFF"/>
                </a:solidFill>
                <a:latin typeface="Fira Sans" pitchFamily="34" charset="0"/>
                <a:ea typeface="Fira Sans" pitchFamily="34" charset="-122"/>
                <a:cs typeface="Fira Sans" pitchFamily="34" charset="-120"/>
              </a:rPr>
              <a:t>woodruff.dev/category/blog/rust</a:t>
            </a:r>
            <a:endParaRPr lang="en-US" sz="1400" dirty="0"/>
          </a:p>
          <a:p>
            <a:pPr marL="0" indent="0">
              <a:buNone/>
            </a:pPr>
            <a:r>
              <a:rPr lang="en-US" sz="1400" b="1" dirty="0">
                <a:solidFill>
                  <a:srgbClr val="FFFFFF"/>
                </a:solidFill>
                <a:latin typeface="Fira Sans" pitchFamily="34" charset="0"/>
                <a:ea typeface="Fira Sans" pitchFamily="34" charset="-122"/>
                <a:cs typeface="Fira Sans" pitchFamily="34" charset="-120"/>
              </a:rPr>
              <a:t>Slides, the clap CLI, and the benchmark harness</a:t>
            </a:r>
            <a:endParaRPr lang="en-US" sz="1400" dirty="0"/>
          </a:p>
          <a:p>
            <a:pPr marL="0" indent="0">
              <a:spcAft>
                <a:spcPts val="1200"/>
              </a:spcAft>
              <a:buNone/>
            </a:pPr>
            <a:r>
              <a:rPr lang="en-US" sz="1400" dirty="0">
                <a:solidFill>
                  <a:srgbClr val="FFFFFF"/>
                </a:solidFill>
                <a:latin typeface="Fira Sans" pitchFamily="34" charset="0"/>
                <a:ea typeface="Fira Sans" pitchFamily="34" charset="-122"/>
                <a:cs typeface="Fira Sans" pitchFamily="34" charset="-120"/>
              </a:rPr>
              <a:t>github.com/cwoodruff/rustifying-your-csharp-codebase</a:t>
            </a:r>
            <a:endParaRPr lang="en-US" sz="1400" dirty="0"/>
          </a:p>
          <a:p>
            <a:pPr marL="0" indent="0">
              <a:buNone/>
            </a:pPr>
            <a:r>
              <a:rPr lang="en-US" sz="1400" b="1" dirty="0">
                <a:solidFill>
                  <a:srgbClr val="FFFFFF"/>
                </a:solidFill>
                <a:latin typeface="Fira Sans" pitchFamily="34" charset="0"/>
                <a:ea typeface="Fira Sans" pitchFamily="34" charset="-122"/>
                <a:cs typeface="Fira Sans" pitchFamily="34" charset="-120"/>
              </a:rPr>
              <a:t>The port and the original it was checked against</a:t>
            </a:r>
            <a:endParaRPr lang="en-US" sz="1400" dirty="0"/>
          </a:p>
          <a:p>
            <a:pPr marL="0" indent="0">
              <a:buNone/>
            </a:pPr>
            <a:r>
              <a:rPr lang="en-US" sz="1400" dirty="0">
                <a:solidFill>
                  <a:srgbClr val="FFFFFF"/>
                </a:solidFill>
                <a:latin typeface="Fira Sans" pitchFamily="34" charset="0"/>
                <a:ea typeface="Fira Sans" pitchFamily="34" charset="-122"/>
                <a:cs typeface="Fira Sans" pitchFamily="34" charset="-120"/>
              </a:rPr>
              <a:t>github.com/cwoodruff/rust-api-modular-monolithic</a:t>
            </a:r>
            <a:endParaRPr lang="en-US" sz="1400" dirty="0"/>
          </a:p>
          <a:p>
            <a:pPr marL="0" indent="0">
              <a:buNone/>
            </a:pPr>
            <a:r>
              <a:rPr lang="en-US" sz="1400" dirty="0">
                <a:solidFill>
                  <a:srgbClr val="FFFFFF"/>
                </a:solidFill>
                <a:latin typeface="Fira Sans" pitchFamily="34" charset="0"/>
                <a:ea typeface="Fira Sans" pitchFamily="34" charset="-122"/>
                <a:cs typeface="Fira Sans" pitchFamily="34" charset="-120"/>
              </a:rPr>
              <a:t>github.com/cwoodruff/aspnetcore-min-api-modular-monolithic</a:t>
            </a:r>
            <a:endParaRPr lang="en-US" sz="1400" dirty="0"/>
          </a:p>
        </p:txBody>
      </p:sp>
      <p:sp>
        <p:nvSpPr>
          <p:cNvPr id="5" name="Text 3"/>
          <p:cNvSpPr txBox="1"/>
          <p:nvPr/>
        </p:nvSpPr>
        <p:spPr>
          <a:xfrm>
            <a:off x="6277356" y="1920240"/>
            <a:ext cx="5362956" cy="365760"/>
          </a:xfrm>
          <a:prstGeom prst="rect">
            <a:avLst/>
          </a:prstGeom>
          <a:noFill/>
          <a:ln/>
        </p:spPr>
        <p:txBody>
          <a:bodyPr wrap="square" lIns="0" tIns="0" rIns="0" bIns="0" rtlCol="0" anchor="ctr"/>
          <a:lstStyle/>
          <a:p>
            <a:pPr marL="0" indent="0">
              <a:buNone/>
            </a:pPr>
            <a:r>
              <a:rPr lang="en-US" sz="1200" b="1" kern="0" spc="200" dirty="0">
                <a:solidFill>
                  <a:srgbClr val="FFC832"/>
                </a:solidFill>
                <a:latin typeface="Fira Sans" pitchFamily="34" charset="0"/>
                <a:ea typeface="Fira Sans" pitchFamily="34" charset="-122"/>
                <a:cs typeface="Fira Sans" pitchFamily="34" charset="-120"/>
              </a:rPr>
              <a:t>Find me</a:t>
            </a:r>
            <a:endParaRPr lang="en-US" sz="1200" dirty="0"/>
          </a:p>
        </p:txBody>
      </p:sp>
      <p:sp>
        <p:nvSpPr>
          <p:cNvPr id="6" name="Text 4"/>
          <p:cNvSpPr txBox="1"/>
          <p:nvPr/>
        </p:nvSpPr>
        <p:spPr>
          <a:xfrm>
            <a:off x="6277356" y="2331720"/>
            <a:ext cx="5362956" cy="3291840"/>
          </a:xfrm>
          <a:prstGeom prst="rect">
            <a:avLst/>
          </a:prstGeom>
          <a:noFill/>
          <a:ln/>
        </p:spPr>
        <p:txBody>
          <a:bodyPr wrap="square" lIns="0" tIns="0" rIns="0" bIns="0" rtlCol="0" anchor="t"/>
          <a:lstStyle/>
          <a:p>
            <a:pPr marL="0" indent="0">
              <a:buNone/>
            </a:pPr>
            <a:r>
              <a:rPr lang="en-US" sz="1600" dirty="0">
                <a:solidFill>
                  <a:srgbClr val="FFFFFF"/>
                </a:solidFill>
                <a:latin typeface="Fira Sans" pitchFamily="34" charset="0"/>
                <a:ea typeface="Fira Sans" pitchFamily="34" charset="-122"/>
                <a:cs typeface="Fira Sans" pitchFamily="34" charset="-120"/>
              </a:rPr>
              <a:t>cwoodruff@live.com</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woodruff.dev</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github.com/cwoodruff</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@woodruff.dev on Bluesky</a:t>
            </a:r>
            <a:endParaRPr lang="en-US" sz="1600" dirty="0"/>
          </a:p>
          <a:p>
            <a:pPr marL="0" indent="0">
              <a:spcAft>
                <a:spcPts val="1200"/>
              </a:spcAft>
              <a:buNone/>
            </a:pPr>
            <a:r>
              <a:rPr lang="en-US" sz="1600" dirty="0">
                <a:solidFill>
                  <a:srgbClr val="FFFFFF"/>
                </a:solidFill>
                <a:latin typeface="Fira Sans" pitchFamily="34" charset="0"/>
                <a:ea typeface="Fira Sans" pitchFamily="34" charset="-122"/>
                <a:cs typeface="Fira Sans" pitchFamily="34" charset="-120"/>
              </a:rPr>
              <a:t>@cwoodruff on Mastodon</a:t>
            </a:r>
            <a:endParaRPr lang="en-US" sz="1600" dirty="0"/>
          </a:p>
          <a:p>
            <a:pPr marL="0" indent="0">
              <a:buNone/>
            </a:pPr>
            <a:r>
              <a:rPr lang="en-US" sz="1600" dirty="0">
                <a:solidFill>
                  <a:srgbClr val="FFFFFF"/>
                </a:solidFill>
                <a:latin typeface="Fira Sans" pitchFamily="34" charset="0"/>
                <a:ea typeface="Fira Sans" pitchFamily="34" charset="-122"/>
                <a:cs typeface="Fira Sans" pitchFamily="34" charset="-120"/>
              </a:rPr>
              <a:t>Book: </a:t>
            </a:r>
            <a:r>
              <a:rPr lang="en-US" sz="1600" dirty="0" err="1">
                <a:solidFill>
                  <a:srgbClr val="FFFFFF"/>
                </a:solidFill>
                <a:latin typeface="Fira Sans" pitchFamily="34" charset="0"/>
                <a:ea typeface="Fira Sans" pitchFamily="34" charset="-122"/>
                <a:cs typeface="Fira Sans" pitchFamily="34" charset="-120"/>
              </a:rPr>
              <a:t>csharp-networking.com</a:t>
            </a:r>
            <a:endParaRPr lang="en-US" sz="1600" dirty="0">
              <a:solidFill>
                <a:srgbClr val="FFFFFF"/>
              </a:solidFill>
              <a:latin typeface="Fira Sans" pitchFamily="34" charset="0"/>
              <a:ea typeface="Fira Sans" pitchFamily="34" charset="-122"/>
              <a:cs typeface="Fira Sans" pitchFamily="34" charset="-120"/>
            </a:endParaRPr>
          </a:p>
          <a:p>
            <a:r>
              <a:rPr lang="en-US" sz="1600" dirty="0">
                <a:solidFill>
                  <a:srgbClr val="FFFFFF"/>
                </a:solidFill>
                <a:latin typeface="Fira Sans" pitchFamily="34" charset="0"/>
                <a:ea typeface="Fira Sans" pitchFamily="34" charset="-122"/>
                <a:cs typeface="Fira Sans" pitchFamily="34" charset="-120"/>
              </a:rPr>
              <a:t>Book: </a:t>
            </a:r>
            <a:r>
              <a:rPr lang="en-US" sz="1600" dirty="0" err="1">
                <a:solidFill>
                  <a:srgbClr val="FFFFFF"/>
                </a:solidFill>
                <a:latin typeface="Fira Sans" pitchFamily="34" charset="0"/>
                <a:ea typeface="Fira Sans" pitchFamily="34" charset="-122"/>
                <a:cs typeface="Fira Sans" pitchFamily="34" charset="-120"/>
              </a:rPr>
              <a:t>aspnet-htmx.com</a:t>
            </a:r>
            <a:endParaRPr lang="en-US" sz="1600" dirty="0"/>
          </a:p>
          <a:p>
            <a:pPr marL="0" indent="0">
              <a:buNone/>
            </a:pPr>
            <a:endParaRPr lang="en-US" sz="1600" dirty="0"/>
          </a:p>
        </p:txBody>
      </p:sp>
      <p:pic>
        <p:nvPicPr>
          <p:cNvPr id="10" name="Picture 9">
            <a:extLst>
              <a:ext uri="{FF2B5EF4-FFF2-40B4-BE49-F238E27FC236}">
                <a16:creationId xmlns:a16="http://schemas.microsoft.com/office/drawing/2014/main" id="{775DFC9F-CE0F-E238-FC28-EE9252A5B6C7}"/>
              </a:ext>
            </a:extLst>
          </p:cNvPr>
          <p:cNvPicPr>
            <a:picLocks noChangeAspect="1"/>
          </p:cNvPicPr>
          <p:nvPr/>
        </p:nvPicPr>
        <p:blipFill>
          <a:blip r:embed="rId3"/>
          <a:stretch>
            <a:fillRect/>
          </a:stretch>
        </p:blipFill>
        <p:spPr>
          <a:xfrm>
            <a:off x="8836152" y="137160"/>
            <a:ext cx="3270504" cy="3270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2323</TotalTime>
  <Words>9920</Words>
  <Application>Microsoft Macintosh PowerPoint</Application>
  <PresentationFormat>Widescreen</PresentationFormat>
  <Paragraphs>1108</Paragraphs>
  <Slides>47</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Alfa Slab One</vt:lpstr>
      <vt:lpstr>Arial</vt:lpstr>
      <vt:lpstr>Fira Mono</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Rust-ifying Your C# Codebase</dc:title>
  <dc:subject>PptxGenJS Presentation</dc:subject>
  <dc:creator>Chris Woodruff</dc:creator>
  <cp:lastModifiedBy>Chris Woodruff</cp:lastModifiedBy>
  <cp:revision>4</cp:revision>
  <dcterms:created xsi:type="dcterms:W3CDTF">2026-09-19T21:01:50Z</dcterms:created>
  <dcterms:modified xsi:type="dcterms:W3CDTF">2026-09-21T12:00:48Z</dcterms:modified>
</cp:coreProperties>
</file>